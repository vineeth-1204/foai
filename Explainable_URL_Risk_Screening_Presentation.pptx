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5780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respected evaluators. Today I present our Artificial Intelligence capstone project: Explainable Link and QR Risk Screening. Our system demonstrates classical symbolic AI: A* heuristic search and forward-chaining propositional Horn logic, delivering a 100% offline, privacy-preserving, and mathematically provable security screening tool.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gives an executive overview of the project. Unlike cloud security services that upload links to external servers or use black-box neural networks, our system operates completely offline using two classical AI engines: PL-FC-Entails forward chaining and A* search. There is zero statistical guessing; every verdict is supported by a formal proof tree.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 compares the cyber threat problem against our system's core objectives. Attackers rely on deceptive URL syntax that evades standard filters. Meanwhile, cloud security feeds violate data privacy and deep learning classifiers cannot explain their verdicts. Our objective is to prove that classical symbolic AI provides the ideal transparent, air-gapped solution.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presents our three pillars. First, the RFC 3986 lexical parser extracts observable ground facts. Second, our secondary AI, A* heuristic search, explores string-edit state space to identify brand typosquatting. Third, our primary AI, PL-FC-Entails, applies forward chaining over propositional Horn clauses to logically deduce risks in linear time.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outlines the six core features. The offline QR decoder extracts raw links from uploaded images without third-party APIs. The lexical analyzer detects hidden credentials and IP masking. A* search detects brand impersonation. Forward chaining enforces positive logic. Finally, proof trees and our interactive web dashboard make every decision fully transparent.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visualizes our end-to-end processing pipeline. Phase 1 accepts a URL or QR code. Phase 2 extracts lexical ground facts. Phase 3 uses A* search to check brand similarity. Phase 4 runs forward-chaining deduction over the knowledge base. Finally, Phase 5 produces the categorical verdict and generates the proof tree DAG.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dives into the mathematical formulation of our secondary AI: A* search for brand typosquatting. We formulate typosquatting as shortest-path search in string-edit state space. The evaluation function is f(n) = g(n) + h(n). Here g(n) is the accumulated edit cost, and h(n) is the length discrepancy heuristic, which is proven admissible. In this trace, 'paypa1' reaches 'paypal' with cost 1, asserting the typosquatting fact.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demonstrates our primary AI: PL-FC-Entails forward chaining and proof tree synthesis. In this concrete example, the input URL triggers five observable lexical facts. The forward chaining engine evaluates definite Horn clauses in linear time. When rule premises are satisfied, intermediate deductions fire, culminating in a HIGH RISK verdict with a complete, tamper-proof proof tree.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our project demonstrates that classical symbolic AI offers superior transparency, mathematical provability, and zero data leakage compared to modern black-box machine learning for link and QR screening. Thank you for your time and guidance. I now welcome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7.png"/><Relationship Id="rId7"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EE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548640"/>
            <a:ext cx="7772400" cy="320040"/>
          </a:xfrm>
          <a:prstGeom prst="rect">
            <a:avLst/>
          </a:prstGeom>
          <a:noFill/>
        </p:spPr>
        <p:txBody>
          <a:bodyPr wrap="none">
            <a:spAutoFit/>
          </a:bodyPr>
          <a:lstStyle/>
          <a:p>
            <a:pPr>
              <a:defRPr sz="1200" b="1">
                <a:solidFill>
                  <a:srgbClr val="0E8F86"/>
                </a:solidFill>
                <a:latin typeface="Courier New"/>
              </a:defRPr>
            </a:pPr>
            <a:r>
              <a:t>DEPARTMENT OF COMPUTER SCIENCE AND ENGINEERING</a:t>
            </a:r>
          </a:p>
        </p:txBody>
      </p:sp>
      <p:sp>
        <p:nvSpPr>
          <p:cNvPr id="4" name="TextBox 3"/>
          <p:cNvSpPr txBox="1"/>
          <p:nvPr/>
        </p:nvSpPr>
        <p:spPr>
          <a:xfrm>
            <a:off x="640080" y="1143000"/>
            <a:ext cx="8046720" cy="2103120"/>
          </a:xfrm>
          <a:prstGeom prst="rect">
            <a:avLst/>
          </a:prstGeom>
          <a:noFill/>
        </p:spPr>
        <p:txBody>
          <a:bodyPr wrap="square">
            <a:spAutoFit/>
          </a:bodyPr>
          <a:lstStyle/>
          <a:p>
            <a:pPr>
              <a:defRPr sz="4000" b="1">
                <a:solidFill>
                  <a:srgbClr val="0B3D4A"/>
                </a:solidFill>
                <a:latin typeface="Arial"/>
              </a:defRPr>
            </a:pPr>
            <a:r>
              <a:t>EXPLAINABLE LINK &amp; QR</a:t>
            </a:r>
            <a:br/>
            <a:r>
              <a:t>RISK SCREENING</a:t>
            </a:r>
          </a:p>
        </p:txBody>
      </p:sp>
      <p:sp>
        <p:nvSpPr>
          <p:cNvPr id="5" name="TextBox 4"/>
          <p:cNvSpPr txBox="1"/>
          <p:nvPr/>
        </p:nvSpPr>
        <p:spPr>
          <a:xfrm>
            <a:off x="640080" y="3429000"/>
            <a:ext cx="8046720" cy="502920"/>
          </a:xfrm>
          <a:prstGeom prst="rect">
            <a:avLst/>
          </a:prstGeom>
          <a:noFill/>
        </p:spPr>
        <p:txBody>
          <a:bodyPr wrap="square">
            <a:spAutoFit/>
          </a:bodyPr>
          <a:lstStyle/>
          <a:p>
            <a:pPr>
              <a:defRPr sz="1650" b="1">
                <a:solidFill>
                  <a:srgbClr val="2C6E91"/>
                </a:solidFill>
                <a:latin typeface="Arial"/>
              </a:defRPr>
            </a:pPr>
            <a:r>
              <a:rPr dirty="0"/>
              <a:t>An Offline, Deterministic Classical Symbolic AI Framework for Web Security</a:t>
            </a:r>
          </a:p>
        </p:txBody>
      </p:sp>
      <p:sp>
        <p:nvSpPr>
          <p:cNvPr id="6" name="Rounded Rectangle 5"/>
          <p:cNvSpPr/>
          <p:nvPr/>
        </p:nvSpPr>
        <p:spPr>
          <a:xfrm>
            <a:off x="640080" y="4206240"/>
            <a:ext cx="7132320" cy="192024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4343400"/>
            <a:ext cx="6675120" cy="1508105"/>
          </a:xfrm>
          <a:prstGeom prst="rect">
            <a:avLst/>
          </a:prstGeom>
          <a:noFill/>
        </p:spPr>
        <p:txBody>
          <a:bodyPr wrap="square">
            <a:spAutoFit/>
          </a:bodyPr>
          <a:lstStyle/>
          <a:p>
            <a:pPr>
              <a:defRPr sz="1400" b="1">
                <a:solidFill>
                  <a:srgbClr val="0B3D4A"/>
                </a:solidFill>
                <a:latin typeface="Arial"/>
              </a:defRPr>
            </a:pPr>
            <a:r>
              <a:rPr dirty="0"/>
              <a:t>Presented by:</a:t>
            </a:r>
            <a:r>
              <a:rPr lang="en-IN" dirty="0"/>
              <a:t> </a:t>
            </a:r>
            <a:r>
              <a:rPr dirty="0"/>
              <a:t> </a:t>
            </a:r>
            <a:r>
              <a:rPr lang="en-IN" dirty="0"/>
              <a:t>Vineeth P-240701589|Tharun SK-240701563</a:t>
            </a:r>
          </a:p>
          <a:p>
            <a:pPr>
              <a:defRPr sz="1400" b="1">
                <a:solidFill>
                  <a:srgbClr val="0B3D4A"/>
                </a:solidFill>
                <a:latin typeface="Arial"/>
              </a:defRPr>
            </a:pPr>
            <a:endParaRPr dirty="0"/>
          </a:p>
          <a:p>
            <a:pPr>
              <a:defRPr sz="1300">
                <a:solidFill>
                  <a:srgbClr val="12202B"/>
                </a:solidFill>
                <a:latin typeface="Arial"/>
              </a:defRPr>
            </a:pPr>
            <a:r>
              <a:rPr dirty="0"/>
              <a:t>Department: Computer Science and Engineering</a:t>
            </a:r>
            <a:endParaRPr lang="en-IN" dirty="0"/>
          </a:p>
          <a:p>
            <a:pPr>
              <a:defRPr sz="1300">
                <a:solidFill>
                  <a:srgbClr val="12202B"/>
                </a:solidFill>
                <a:latin typeface="Arial"/>
              </a:defRPr>
            </a:pPr>
            <a:endParaRPr dirty="0"/>
          </a:p>
          <a:p>
            <a:pPr>
              <a:defRPr sz="1300">
                <a:solidFill>
                  <a:srgbClr val="12202B"/>
                </a:solidFill>
                <a:latin typeface="Arial"/>
              </a:defRPr>
            </a:pPr>
            <a:r>
              <a:rPr dirty="0"/>
              <a:t>College Name: Rajalakshmi Engineering College</a:t>
            </a:r>
            <a:endParaRPr lang="en-IN" dirty="0"/>
          </a:p>
          <a:p>
            <a:pPr>
              <a:defRPr sz="1300">
                <a:solidFill>
                  <a:srgbClr val="12202B"/>
                </a:solidFill>
                <a:latin typeface="Arial"/>
              </a:defRPr>
            </a:pPr>
            <a:endParaRPr dirty="0"/>
          </a:p>
          <a:p>
            <a:pPr>
              <a:defRPr sz="1200">
                <a:solidFill>
                  <a:srgbClr val="0E8F86"/>
                </a:solidFill>
                <a:latin typeface="Arial"/>
              </a:defRPr>
            </a:pPr>
            <a:r>
              <a:rPr dirty="0"/>
              <a:t>Academic Year: 2026–2027 | Course: Foundations of Artificial Intelligence</a:t>
            </a:r>
          </a:p>
        </p:txBody>
      </p:sp>
      <p:sp>
        <p:nvSpPr>
          <p:cNvPr id="8" name="Oval 7"/>
          <p:cNvSpPr/>
          <p:nvPr/>
        </p:nvSpPr>
        <p:spPr>
          <a:xfrm>
            <a:off x="8412480" y="1188720"/>
            <a:ext cx="3200400" cy="3200400"/>
          </a:xfrm>
          <a:prstGeom prst="ellipse">
            <a:avLst/>
          </a:prstGeom>
          <a:solidFill>
            <a:srgbClr val="E1F2EE"/>
          </a:solidFill>
          <a:ln w="25400">
            <a:solidFill>
              <a:srgbClr val="0E8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875520" y="3200400"/>
            <a:ext cx="1645920" cy="1645920"/>
          </a:xfrm>
          <a:prstGeom prst="ellipse">
            <a:avLst/>
          </a:prstGeom>
          <a:solidFill>
            <a:srgbClr val="FFFFFF"/>
          </a:solidFill>
          <a:ln w="1905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shield.png"/>
          <p:cNvPicPr>
            <a:picLocks noChangeAspect="1"/>
          </p:cNvPicPr>
          <p:nvPr/>
        </p:nvPicPr>
        <p:blipFill>
          <a:blip r:embed="rId3"/>
          <a:stretch>
            <a:fillRect/>
          </a:stretch>
        </p:blipFill>
        <p:spPr>
          <a:xfrm>
            <a:off x="9144000" y="1920240"/>
            <a:ext cx="1737360" cy="17373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EE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0972800" cy="292608"/>
          </a:xfrm>
          <a:prstGeom prst="rect">
            <a:avLst/>
          </a:prstGeom>
          <a:noFill/>
        </p:spPr>
        <p:txBody>
          <a:bodyPr wrap="square" lIns="0" tIns="0" rIns="0" bIns="0">
            <a:spAutoFit/>
          </a:bodyPr>
          <a:lstStyle/>
          <a:p>
            <a:pPr>
              <a:defRPr sz="1200" b="1">
                <a:solidFill>
                  <a:srgbClr val="0E8F86"/>
                </a:solidFill>
                <a:latin typeface="Courier New"/>
              </a:defRPr>
            </a:pPr>
            <a:r>
              <a:t>01 · ABOUT THE PROJECT</a:t>
            </a:r>
          </a:p>
        </p:txBody>
      </p:sp>
      <p:sp>
        <p:nvSpPr>
          <p:cNvPr id="4" name="TextBox 3"/>
          <p:cNvSpPr txBox="1"/>
          <p:nvPr/>
        </p:nvSpPr>
        <p:spPr>
          <a:xfrm>
            <a:off x="548640" y="694944"/>
            <a:ext cx="11091672" cy="1051560"/>
          </a:xfrm>
          <a:prstGeom prst="rect">
            <a:avLst/>
          </a:prstGeom>
          <a:noFill/>
        </p:spPr>
        <p:txBody>
          <a:bodyPr wrap="square" lIns="0" tIns="0" rIns="0" bIns="0">
            <a:spAutoFit/>
          </a:bodyPr>
          <a:lstStyle/>
          <a:p>
            <a:pPr>
              <a:defRPr sz="2500" b="1">
                <a:solidFill>
                  <a:srgbClr val="0B3D4A"/>
                </a:solidFill>
                <a:latin typeface="Arial"/>
              </a:defRPr>
            </a:pPr>
            <a:r>
              <a:t>OFFLINE, DETERMINISTIC &amp; FULLY EXPLAINABLE LINK SCREENING</a:t>
            </a:r>
          </a:p>
        </p:txBody>
      </p:sp>
      <p:sp>
        <p:nvSpPr>
          <p:cNvPr id="5" name="TextBox 4"/>
          <p:cNvSpPr txBox="1"/>
          <p:nvPr/>
        </p:nvSpPr>
        <p:spPr>
          <a:xfrm>
            <a:off x="548640" y="1783080"/>
            <a:ext cx="11091672" cy="685800"/>
          </a:xfrm>
          <a:prstGeom prst="rect">
            <a:avLst/>
          </a:prstGeom>
          <a:noFill/>
        </p:spPr>
        <p:txBody>
          <a:bodyPr wrap="square" lIns="0" tIns="0" rIns="0" bIns="0">
            <a:spAutoFit/>
          </a:bodyPr>
          <a:lstStyle/>
          <a:p>
            <a:pPr>
              <a:defRPr sz="1550">
                <a:solidFill>
                  <a:srgbClr val="2C6E91"/>
                </a:solidFill>
                <a:latin typeface="Arial"/>
              </a:defRPr>
            </a:pPr>
            <a:r>
              <a:t>Screen web URLs and QR codes locally with zero cloud dependencies, zero DNS lookups, and zero black-box ML.</a:t>
            </a:r>
          </a:p>
        </p:txBody>
      </p:sp>
      <p:sp>
        <p:nvSpPr>
          <p:cNvPr id="6" name="TextBox 5"/>
          <p:cNvSpPr txBox="1"/>
          <p:nvPr/>
        </p:nvSpPr>
        <p:spPr>
          <a:xfrm>
            <a:off x="11155680" y="6400800"/>
            <a:ext cx="548640" cy="274320"/>
          </a:xfrm>
          <a:prstGeom prst="rect">
            <a:avLst/>
          </a:prstGeom>
          <a:noFill/>
        </p:spPr>
        <p:txBody>
          <a:bodyPr wrap="none">
            <a:spAutoFit/>
          </a:bodyPr>
          <a:lstStyle/>
          <a:p>
            <a:pPr>
              <a:defRPr sz="1100">
                <a:solidFill>
                  <a:srgbClr val="2C6E91"/>
                </a:solidFill>
                <a:latin typeface="Arial"/>
              </a:defRPr>
            </a:pPr>
            <a:r>
              <a:t>2</a:t>
            </a:r>
          </a:p>
        </p:txBody>
      </p:sp>
      <p:sp>
        <p:nvSpPr>
          <p:cNvPr id="7" name="Rounded Rectangle 6"/>
          <p:cNvSpPr/>
          <p:nvPr/>
        </p:nvSpPr>
        <p:spPr>
          <a:xfrm>
            <a:off x="548640" y="2423160"/>
            <a:ext cx="3474720" cy="384048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shield.png"/>
          <p:cNvPicPr>
            <a:picLocks noChangeAspect="1"/>
          </p:cNvPicPr>
          <p:nvPr/>
        </p:nvPicPr>
        <p:blipFill>
          <a:blip r:embed="rId3"/>
          <a:stretch>
            <a:fillRect/>
          </a:stretch>
        </p:blipFill>
        <p:spPr>
          <a:xfrm>
            <a:off x="822960" y="2651760"/>
            <a:ext cx="731520" cy="731520"/>
          </a:xfrm>
          <a:prstGeom prst="rect">
            <a:avLst/>
          </a:prstGeom>
        </p:spPr>
      </p:pic>
      <p:sp>
        <p:nvSpPr>
          <p:cNvPr id="9" name="TextBox 8"/>
          <p:cNvSpPr txBox="1"/>
          <p:nvPr/>
        </p:nvSpPr>
        <p:spPr>
          <a:xfrm>
            <a:off x="822960" y="3429000"/>
            <a:ext cx="2926080" cy="2651760"/>
          </a:xfrm>
          <a:prstGeom prst="rect">
            <a:avLst/>
          </a:prstGeom>
          <a:noFill/>
        </p:spPr>
        <p:txBody>
          <a:bodyPr wrap="square">
            <a:spAutoFit/>
          </a:bodyPr>
          <a:lstStyle/>
          <a:p>
            <a:pPr>
              <a:defRPr sz="4600" b="1">
                <a:solidFill>
                  <a:srgbClr val="0E8F86"/>
                </a:solidFill>
                <a:latin typeface="Arial"/>
              </a:defRPr>
            </a:pPr>
            <a:r>
              <a:t>100%</a:t>
            </a:r>
          </a:p>
          <a:p>
            <a:pPr>
              <a:defRPr sz="1700" b="1">
                <a:solidFill>
                  <a:srgbClr val="0B3D4A"/>
                </a:solidFill>
                <a:latin typeface="Arial"/>
              </a:defRPr>
            </a:pPr>
            <a:r>
              <a:t>Air-Gapped &amp; Offline</a:t>
            </a:r>
          </a:p>
          <a:p>
            <a:pPr>
              <a:defRPr sz="1300">
                <a:solidFill>
                  <a:srgbClr val="12202B"/>
                </a:solidFill>
                <a:latin typeface="Arial"/>
              </a:defRPr>
            </a:pPr>
            <a:r>
              <a:t>Zero external network requests, zero remote DNS queries, and zero tracking. Operates in isolated and restricted environments.</a:t>
            </a:r>
          </a:p>
        </p:txBody>
      </p:sp>
      <p:sp>
        <p:nvSpPr>
          <p:cNvPr id="10" name="Rounded Rectangle 9"/>
          <p:cNvSpPr/>
          <p:nvPr/>
        </p:nvSpPr>
        <p:spPr>
          <a:xfrm>
            <a:off x="4343400" y="2423160"/>
            <a:ext cx="3474720" cy="384048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logic.png"/>
          <p:cNvPicPr>
            <a:picLocks noChangeAspect="1"/>
          </p:cNvPicPr>
          <p:nvPr/>
        </p:nvPicPr>
        <p:blipFill>
          <a:blip r:embed="rId4"/>
          <a:stretch>
            <a:fillRect/>
          </a:stretch>
        </p:blipFill>
        <p:spPr>
          <a:xfrm>
            <a:off x="4617720" y="2651760"/>
            <a:ext cx="731520" cy="731520"/>
          </a:xfrm>
          <a:prstGeom prst="rect">
            <a:avLst/>
          </a:prstGeom>
        </p:spPr>
      </p:pic>
      <p:sp>
        <p:nvSpPr>
          <p:cNvPr id="12" name="TextBox 11"/>
          <p:cNvSpPr txBox="1"/>
          <p:nvPr/>
        </p:nvSpPr>
        <p:spPr>
          <a:xfrm>
            <a:off x="4617720" y="3429000"/>
            <a:ext cx="2926080" cy="2651760"/>
          </a:xfrm>
          <a:prstGeom prst="rect">
            <a:avLst/>
          </a:prstGeom>
          <a:noFill/>
        </p:spPr>
        <p:txBody>
          <a:bodyPr wrap="square">
            <a:spAutoFit/>
          </a:bodyPr>
          <a:lstStyle/>
          <a:p>
            <a:pPr>
              <a:defRPr sz="4600" b="1">
                <a:solidFill>
                  <a:srgbClr val="0E8F86"/>
                </a:solidFill>
                <a:latin typeface="Arial"/>
              </a:defRPr>
            </a:pPr>
            <a:r>
              <a:t>2</a:t>
            </a:r>
          </a:p>
          <a:p>
            <a:pPr>
              <a:defRPr sz="1700" b="1">
                <a:solidFill>
                  <a:srgbClr val="0B3D4A"/>
                </a:solidFill>
                <a:latin typeface="Arial"/>
              </a:defRPr>
            </a:pPr>
            <a:r>
              <a:t>Classical AI Engines</a:t>
            </a:r>
          </a:p>
          <a:p>
            <a:pPr>
              <a:defRPr sz="1300">
                <a:solidFill>
                  <a:srgbClr val="12202B"/>
                </a:solidFill>
                <a:latin typeface="Arial"/>
              </a:defRPr>
            </a:pPr>
            <a:r>
              <a:t>Primary AI: PL-FC-Entails Forward Chaining over Horn logic. Secondary AI: A* Heuristic Search for string typosquatting detection.</a:t>
            </a:r>
          </a:p>
        </p:txBody>
      </p:sp>
      <p:sp>
        <p:nvSpPr>
          <p:cNvPr id="13" name="Rounded Rectangle 12"/>
          <p:cNvSpPr/>
          <p:nvPr/>
        </p:nvSpPr>
        <p:spPr>
          <a:xfrm>
            <a:off x="8138160" y="2423160"/>
            <a:ext cx="3474720" cy="384048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prooftree.png"/>
          <p:cNvPicPr>
            <a:picLocks noChangeAspect="1"/>
          </p:cNvPicPr>
          <p:nvPr/>
        </p:nvPicPr>
        <p:blipFill>
          <a:blip r:embed="rId5"/>
          <a:stretch>
            <a:fillRect/>
          </a:stretch>
        </p:blipFill>
        <p:spPr>
          <a:xfrm>
            <a:off x="8412480" y="2651760"/>
            <a:ext cx="731520" cy="731520"/>
          </a:xfrm>
          <a:prstGeom prst="rect">
            <a:avLst/>
          </a:prstGeom>
        </p:spPr>
      </p:pic>
      <p:sp>
        <p:nvSpPr>
          <p:cNvPr id="15" name="TextBox 14"/>
          <p:cNvSpPr txBox="1"/>
          <p:nvPr/>
        </p:nvSpPr>
        <p:spPr>
          <a:xfrm>
            <a:off x="8412480" y="3429000"/>
            <a:ext cx="2926080" cy="2651760"/>
          </a:xfrm>
          <a:prstGeom prst="rect">
            <a:avLst/>
          </a:prstGeom>
          <a:noFill/>
        </p:spPr>
        <p:txBody>
          <a:bodyPr wrap="square">
            <a:spAutoFit/>
          </a:bodyPr>
          <a:lstStyle/>
          <a:p>
            <a:pPr>
              <a:defRPr sz="4600" b="1">
                <a:solidFill>
                  <a:srgbClr val="FF6B57"/>
                </a:solidFill>
                <a:latin typeface="Arial"/>
              </a:defRPr>
            </a:pPr>
            <a:r>
              <a:rPr dirty="0"/>
              <a:t>0</a:t>
            </a:r>
          </a:p>
          <a:p>
            <a:pPr>
              <a:defRPr sz="1700" b="1">
                <a:solidFill>
                  <a:srgbClr val="0B3D4A"/>
                </a:solidFill>
                <a:latin typeface="Arial"/>
              </a:defRPr>
            </a:pPr>
            <a:r>
              <a:rPr dirty="0"/>
              <a:t>Black-Box ML or Hallucination</a:t>
            </a:r>
          </a:p>
          <a:p>
            <a:pPr>
              <a:defRPr sz="1300">
                <a:solidFill>
                  <a:srgbClr val="12202B"/>
                </a:solidFill>
                <a:latin typeface="Arial"/>
              </a:defRPr>
            </a:pPr>
            <a:r>
              <a:rPr dirty="0"/>
              <a:t>Every risk verdict is 100% mathematically proven and justified by a complete proof-tree DAG mapping back to observable lexical facts.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EE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0972800" cy="292608"/>
          </a:xfrm>
          <a:prstGeom prst="rect">
            <a:avLst/>
          </a:prstGeom>
          <a:noFill/>
        </p:spPr>
        <p:txBody>
          <a:bodyPr wrap="square" lIns="0" tIns="0" rIns="0" bIns="0">
            <a:spAutoFit/>
          </a:bodyPr>
          <a:lstStyle/>
          <a:p>
            <a:pPr>
              <a:defRPr sz="1200" b="1">
                <a:solidFill>
                  <a:srgbClr val="0E8F86"/>
                </a:solidFill>
                <a:latin typeface="Courier New"/>
              </a:defRPr>
            </a:pPr>
            <a:r>
              <a:t>02 · PROBLEM AND OBJECTIVES</a:t>
            </a:r>
          </a:p>
        </p:txBody>
      </p:sp>
      <p:sp>
        <p:nvSpPr>
          <p:cNvPr id="4" name="TextBox 3"/>
          <p:cNvSpPr txBox="1"/>
          <p:nvPr/>
        </p:nvSpPr>
        <p:spPr>
          <a:xfrm>
            <a:off x="548640" y="694944"/>
            <a:ext cx="11091672" cy="1051560"/>
          </a:xfrm>
          <a:prstGeom prst="rect">
            <a:avLst/>
          </a:prstGeom>
          <a:noFill/>
        </p:spPr>
        <p:txBody>
          <a:bodyPr wrap="square" lIns="0" tIns="0" rIns="0" bIns="0">
            <a:spAutoFit/>
          </a:bodyPr>
          <a:lstStyle/>
          <a:p>
            <a:pPr>
              <a:defRPr sz="2500" b="1">
                <a:solidFill>
                  <a:srgbClr val="0B3D4A"/>
                </a:solidFill>
                <a:latin typeface="Arial"/>
              </a:defRPr>
            </a:pPr>
            <a:r>
              <a:t>ADDRESSING CYBER THREATS WHILE PRESERVING PRIVACY &amp; EXPLAINABILITY</a:t>
            </a:r>
          </a:p>
        </p:txBody>
      </p:sp>
      <p:sp>
        <p:nvSpPr>
          <p:cNvPr id="5" name="TextBox 4"/>
          <p:cNvSpPr txBox="1"/>
          <p:nvPr/>
        </p:nvSpPr>
        <p:spPr>
          <a:xfrm>
            <a:off x="11155680" y="6400800"/>
            <a:ext cx="548640" cy="274320"/>
          </a:xfrm>
          <a:prstGeom prst="rect">
            <a:avLst/>
          </a:prstGeom>
          <a:noFill/>
        </p:spPr>
        <p:txBody>
          <a:bodyPr wrap="none">
            <a:spAutoFit/>
          </a:bodyPr>
          <a:lstStyle/>
          <a:p>
            <a:pPr>
              <a:defRPr sz="1100">
                <a:solidFill>
                  <a:srgbClr val="2C6E91"/>
                </a:solidFill>
                <a:latin typeface="Arial"/>
              </a:defRPr>
            </a:pPr>
            <a:r>
              <a:t>3</a:t>
            </a:r>
          </a:p>
        </p:txBody>
      </p:sp>
      <p:sp>
        <p:nvSpPr>
          <p:cNvPr id="6" name="Rounded Rectangle 5"/>
          <p:cNvSpPr/>
          <p:nvPr/>
        </p:nvSpPr>
        <p:spPr>
          <a:xfrm>
            <a:off x="548640" y="1874519"/>
            <a:ext cx="5394960" cy="429768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68680" y="2103120"/>
            <a:ext cx="685800" cy="685800"/>
          </a:xfrm>
          <a:prstGeom prst="ellipse">
            <a:avLst/>
          </a:prstGeom>
          <a:solidFill>
            <a:srgbClr val="FFEDEA"/>
          </a:solidFill>
          <a:ln>
            <a:solidFill>
              <a:srgbClr val="FF6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lert.png"/>
          <p:cNvPicPr>
            <a:picLocks noChangeAspect="1"/>
          </p:cNvPicPr>
          <p:nvPr/>
        </p:nvPicPr>
        <p:blipFill>
          <a:blip r:embed="rId3"/>
          <a:stretch>
            <a:fillRect/>
          </a:stretch>
        </p:blipFill>
        <p:spPr>
          <a:xfrm>
            <a:off x="978408" y="2212848"/>
            <a:ext cx="457200" cy="457200"/>
          </a:xfrm>
          <a:prstGeom prst="rect">
            <a:avLst/>
          </a:prstGeom>
        </p:spPr>
      </p:pic>
      <p:sp>
        <p:nvSpPr>
          <p:cNvPr id="9" name="TextBox 8"/>
          <p:cNvSpPr txBox="1"/>
          <p:nvPr/>
        </p:nvSpPr>
        <p:spPr>
          <a:xfrm>
            <a:off x="1691640" y="2148840"/>
            <a:ext cx="3931920" cy="594360"/>
          </a:xfrm>
          <a:prstGeom prst="rect">
            <a:avLst/>
          </a:prstGeom>
          <a:noFill/>
        </p:spPr>
        <p:txBody>
          <a:bodyPr wrap="none">
            <a:spAutoFit/>
          </a:bodyPr>
          <a:lstStyle/>
          <a:p>
            <a:pPr>
              <a:defRPr sz="2200" b="1">
                <a:solidFill>
                  <a:srgbClr val="FF6B57"/>
                </a:solidFill>
                <a:latin typeface="Arial"/>
              </a:defRPr>
            </a:pPr>
            <a:r>
              <a:t>The Problem</a:t>
            </a:r>
          </a:p>
        </p:txBody>
      </p:sp>
      <p:sp>
        <p:nvSpPr>
          <p:cNvPr id="10" name="TextBox 9"/>
          <p:cNvSpPr txBox="1"/>
          <p:nvPr/>
        </p:nvSpPr>
        <p:spPr>
          <a:xfrm>
            <a:off x="868680" y="2926080"/>
            <a:ext cx="4754880" cy="3017520"/>
          </a:xfrm>
          <a:prstGeom prst="rect">
            <a:avLst/>
          </a:prstGeom>
          <a:noFill/>
        </p:spPr>
        <p:txBody>
          <a:bodyPr wrap="square">
            <a:spAutoFit/>
          </a:bodyPr>
          <a:lstStyle/>
          <a:p>
            <a:pPr>
              <a:spcAft>
                <a:spcPts val="1000"/>
              </a:spcAft>
              <a:defRPr sz="1300">
                <a:solidFill>
                  <a:srgbClr val="12202B"/>
                </a:solidFill>
                <a:latin typeface="Arial"/>
              </a:defRPr>
            </a:pPr>
            <a:r>
              <a:t>•  Malicious links &amp; QR codes rely on subtle structural deceptions (embedded credentials with '@', direct IP hosts, typosquatted brand domains).</a:t>
            </a:r>
          </a:p>
          <a:p>
            <a:pPr>
              <a:spcAft>
                <a:spcPts val="1000"/>
              </a:spcAft>
              <a:defRPr sz="1300">
                <a:solidFill>
                  <a:srgbClr val="12202B"/>
                </a:solidFill>
                <a:latin typeface="Arial"/>
              </a:defRPr>
            </a:pPr>
            <a:r>
              <a:t>•  Cloud-based threat scanners leak internal corporate links, confidential parameters, and user browsing telemetry to third parties.</a:t>
            </a:r>
          </a:p>
          <a:p>
            <a:pPr>
              <a:spcAft>
                <a:spcPts val="1000"/>
              </a:spcAft>
              <a:defRPr sz="1300">
                <a:solidFill>
                  <a:srgbClr val="12202B"/>
                </a:solidFill>
                <a:latin typeface="Arial"/>
              </a:defRPr>
            </a:pPr>
            <a:r>
              <a:t>•  Deep learning and LLMs operate as uninterpretable 'black boxes', giving vague probabilities (e.g. '87% risky') without auditability.</a:t>
            </a:r>
          </a:p>
          <a:p>
            <a:pPr>
              <a:spcAft>
                <a:spcPts val="1000"/>
              </a:spcAft>
              <a:defRPr sz="1300">
                <a:solidFill>
                  <a:srgbClr val="12202B"/>
                </a:solidFill>
                <a:latin typeface="Arial"/>
              </a:defRPr>
            </a:pPr>
            <a:r>
              <a:t>•  Air-gapped and high-security networks cannot perform live DNS lookups or connect to cloud reputation feeds.</a:t>
            </a:r>
          </a:p>
        </p:txBody>
      </p:sp>
      <p:sp>
        <p:nvSpPr>
          <p:cNvPr id="11" name="Rounded Rectangle 10"/>
          <p:cNvSpPr/>
          <p:nvPr/>
        </p:nvSpPr>
        <p:spPr>
          <a:xfrm>
            <a:off x="6217920" y="1874519"/>
            <a:ext cx="5394960" cy="429768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537960" y="2103120"/>
            <a:ext cx="685800" cy="685800"/>
          </a:xfrm>
          <a:prstGeom prst="ellipse">
            <a:avLst/>
          </a:prstGeom>
          <a:solidFill>
            <a:srgbClr val="E1F2EE"/>
          </a:solidFill>
          <a:ln>
            <a:solidFill>
              <a:srgbClr val="0E8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shield.png"/>
          <p:cNvPicPr>
            <a:picLocks noChangeAspect="1"/>
          </p:cNvPicPr>
          <p:nvPr/>
        </p:nvPicPr>
        <p:blipFill>
          <a:blip r:embed="rId4"/>
          <a:stretch>
            <a:fillRect/>
          </a:stretch>
        </p:blipFill>
        <p:spPr>
          <a:xfrm>
            <a:off x="6647688" y="2212848"/>
            <a:ext cx="457200" cy="457200"/>
          </a:xfrm>
          <a:prstGeom prst="rect">
            <a:avLst/>
          </a:prstGeom>
        </p:spPr>
      </p:pic>
      <p:sp>
        <p:nvSpPr>
          <p:cNvPr id="14" name="TextBox 13"/>
          <p:cNvSpPr txBox="1"/>
          <p:nvPr/>
        </p:nvSpPr>
        <p:spPr>
          <a:xfrm>
            <a:off x="7360920" y="2148840"/>
            <a:ext cx="3931920" cy="594360"/>
          </a:xfrm>
          <a:prstGeom prst="rect">
            <a:avLst/>
          </a:prstGeom>
          <a:noFill/>
        </p:spPr>
        <p:txBody>
          <a:bodyPr wrap="none">
            <a:spAutoFit/>
          </a:bodyPr>
          <a:lstStyle/>
          <a:p>
            <a:pPr>
              <a:defRPr sz="2200" b="1">
                <a:solidFill>
                  <a:srgbClr val="0E8F86"/>
                </a:solidFill>
                <a:latin typeface="Arial"/>
              </a:defRPr>
            </a:pPr>
            <a:r>
              <a:t>Our Objectives</a:t>
            </a:r>
          </a:p>
        </p:txBody>
      </p:sp>
      <p:sp>
        <p:nvSpPr>
          <p:cNvPr id="15" name="TextBox 14"/>
          <p:cNvSpPr txBox="1"/>
          <p:nvPr/>
        </p:nvSpPr>
        <p:spPr>
          <a:xfrm>
            <a:off x="6537960" y="2926080"/>
            <a:ext cx="4754880" cy="3017520"/>
          </a:xfrm>
          <a:prstGeom prst="rect">
            <a:avLst/>
          </a:prstGeom>
          <a:noFill/>
        </p:spPr>
        <p:txBody>
          <a:bodyPr wrap="square">
            <a:spAutoFit/>
          </a:bodyPr>
          <a:lstStyle/>
          <a:p>
            <a:pPr>
              <a:spcAft>
                <a:spcPts val="1000"/>
              </a:spcAft>
              <a:defRPr sz="1300">
                <a:solidFill>
                  <a:srgbClr val="12202B"/>
                </a:solidFill>
                <a:latin typeface="Arial"/>
              </a:defRPr>
            </a:pPr>
            <a:r>
              <a:t>•  Strict RFC 3986 Lexical Anatomy Parsing: Extract observable facts from URL components and offline OpenCV QR matrices.</a:t>
            </a:r>
          </a:p>
          <a:p>
            <a:pPr>
              <a:spcAft>
                <a:spcPts val="1000"/>
              </a:spcAft>
              <a:defRPr sz="1300">
                <a:solidFill>
                  <a:srgbClr val="12202B"/>
                </a:solidFill>
                <a:latin typeface="Arial"/>
              </a:defRPr>
            </a:pPr>
            <a:r>
              <a:t>•  A* Heuristic Search Formulation: Detect brand typosquatting by finding optimal edit distance paths with an admissible heuristic.</a:t>
            </a:r>
          </a:p>
          <a:p>
            <a:pPr>
              <a:spcAft>
                <a:spcPts val="1000"/>
              </a:spcAft>
              <a:defRPr sz="1300">
                <a:solidFill>
                  <a:srgbClr val="12202B"/>
                </a:solidFill>
                <a:latin typeface="Arial"/>
              </a:defRPr>
            </a:pPr>
            <a:r>
              <a:t>•  Propositional Horn Logic Engine: Execute PL-FC-Entails forward chaining over definite Horn clauses for linear-time deduction.</a:t>
            </a:r>
          </a:p>
          <a:p>
            <a:pPr>
              <a:spcAft>
                <a:spcPts val="1000"/>
              </a:spcAft>
              <a:defRPr sz="1300">
                <a:solidFill>
                  <a:srgbClr val="12202B"/>
                </a:solidFill>
                <a:latin typeface="Arial"/>
              </a:defRPr>
            </a:pPr>
            <a:r>
              <a:t>•  Explainable AI (XAI) Synthesis: Construct visual proof-tree DAGs verifying every conclusion from ground facts to final risk verdict.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EE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0972800" cy="292608"/>
          </a:xfrm>
          <a:prstGeom prst="rect">
            <a:avLst/>
          </a:prstGeom>
          <a:noFill/>
        </p:spPr>
        <p:txBody>
          <a:bodyPr wrap="square" lIns="0" tIns="0" rIns="0" bIns="0">
            <a:spAutoFit/>
          </a:bodyPr>
          <a:lstStyle/>
          <a:p>
            <a:pPr>
              <a:defRPr sz="1200" b="1">
                <a:solidFill>
                  <a:srgbClr val="0E8F86"/>
                </a:solidFill>
                <a:latin typeface="Courier New"/>
              </a:defRPr>
            </a:pPr>
            <a:r>
              <a:t>03 · TECHNOLOGY STACK</a:t>
            </a:r>
          </a:p>
        </p:txBody>
      </p:sp>
      <p:sp>
        <p:nvSpPr>
          <p:cNvPr id="4" name="TextBox 3"/>
          <p:cNvSpPr txBox="1"/>
          <p:nvPr/>
        </p:nvSpPr>
        <p:spPr>
          <a:xfrm>
            <a:off x="548640" y="694944"/>
            <a:ext cx="11091672" cy="1051560"/>
          </a:xfrm>
          <a:prstGeom prst="rect">
            <a:avLst/>
          </a:prstGeom>
          <a:noFill/>
        </p:spPr>
        <p:txBody>
          <a:bodyPr wrap="square" lIns="0" tIns="0" rIns="0" bIns="0">
            <a:spAutoFit/>
          </a:bodyPr>
          <a:lstStyle/>
          <a:p>
            <a:pPr>
              <a:defRPr sz="2500" b="1">
                <a:solidFill>
                  <a:srgbClr val="0B3D4A"/>
                </a:solidFill>
                <a:latin typeface="Arial"/>
              </a:defRPr>
            </a:pPr>
            <a:r>
              <a:t>THREE CORE CLASSICAL AI AND COMPUTATIONAL FOUNDATIONS</a:t>
            </a:r>
          </a:p>
        </p:txBody>
      </p:sp>
      <p:sp>
        <p:nvSpPr>
          <p:cNvPr id="5" name="TextBox 4"/>
          <p:cNvSpPr txBox="1"/>
          <p:nvPr/>
        </p:nvSpPr>
        <p:spPr>
          <a:xfrm>
            <a:off x="11155680" y="6400800"/>
            <a:ext cx="548640" cy="274320"/>
          </a:xfrm>
          <a:prstGeom prst="rect">
            <a:avLst/>
          </a:prstGeom>
          <a:noFill/>
        </p:spPr>
        <p:txBody>
          <a:bodyPr wrap="none">
            <a:spAutoFit/>
          </a:bodyPr>
          <a:lstStyle/>
          <a:p>
            <a:pPr>
              <a:defRPr sz="1100">
                <a:solidFill>
                  <a:srgbClr val="2C6E91"/>
                </a:solidFill>
                <a:latin typeface="Arial"/>
              </a:defRPr>
            </a:pPr>
            <a:r>
              <a:t>4</a:t>
            </a:r>
          </a:p>
        </p:txBody>
      </p:sp>
      <p:sp>
        <p:nvSpPr>
          <p:cNvPr id="6" name="Rounded Rectangle 5"/>
          <p:cNvSpPr/>
          <p:nvPr/>
        </p:nvSpPr>
        <p:spPr>
          <a:xfrm>
            <a:off x="548640" y="1920240"/>
            <a:ext cx="3474720" cy="356616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68680" y="2148840"/>
            <a:ext cx="685800" cy="685800"/>
          </a:xfrm>
          <a:prstGeom prst="ellipse">
            <a:avLst/>
          </a:prstGeom>
          <a:solidFill>
            <a:srgbClr val="E1F2EE"/>
          </a:solidFill>
          <a:ln>
            <a:solidFill>
              <a:srgbClr val="0E8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parser.png"/>
          <p:cNvPicPr>
            <a:picLocks noChangeAspect="1"/>
          </p:cNvPicPr>
          <p:nvPr/>
        </p:nvPicPr>
        <p:blipFill>
          <a:blip r:embed="rId3"/>
          <a:stretch>
            <a:fillRect/>
          </a:stretch>
        </p:blipFill>
        <p:spPr>
          <a:xfrm>
            <a:off x="978408" y="2258568"/>
            <a:ext cx="457200" cy="457200"/>
          </a:xfrm>
          <a:prstGeom prst="rect">
            <a:avLst/>
          </a:prstGeom>
        </p:spPr>
      </p:pic>
      <p:sp>
        <p:nvSpPr>
          <p:cNvPr id="9" name="TextBox 8"/>
          <p:cNvSpPr txBox="1"/>
          <p:nvPr/>
        </p:nvSpPr>
        <p:spPr>
          <a:xfrm>
            <a:off x="868680" y="2971800"/>
            <a:ext cx="2834640" cy="2377440"/>
          </a:xfrm>
          <a:prstGeom prst="rect">
            <a:avLst/>
          </a:prstGeom>
          <a:noFill/>
        </p:spPr>
        <p:txBody>
          <a:bodyPr wrap="square">
            <a:spAutoFit/>
          </a:bodyPr>
          <a:lstStyle/>
          <a:p>
            <a:pPr>
              <a:defRPr sz="1800" b="1">
                <a:solidFill>
                  <a:srgbClr val="0B3D4A"/>
                </a:solidFill>
                <a:latin typeface="Arial"/>
              </a:defRPr>
            </a:pPr>
            <a:r>
              <a:t>RFC 3986 Lexical Engine</a:t>
            </a:r>
          </a:p>
          <a:p>
            <a:pPr>
              <a:spcAft>
                <a:spcPts val="800"/>
              </a:spcAft>
              <a:defRPr sz="1300" b="1">
                <a:solidFill>
                  <a:srgbClr val="0E8F86"/>
                </a:solidFill>
                <a:latin typeface="Arial"/>
              </a:defRPr>
            </a:pPr>
            <a:r>
              <a:t>Syntactic Decomposition</a:t>
            </a:r>
          </a:p>
          <a:p>
            <a:pPr>
              <a:defRPr sz="1200">
                <a:solidFill>
                  <a:srgbClr val="12202B"/>
                </a:solidFill>
                <a:latin typeface="Arial"/>
              </a:defRPr>
            </a:pPr>
            <a:r>
              <a:t>Dissects input URLs into Scheme, Host, Port, Userinfo, Path, Query, and Fragment. Identifies IPv4/IPv6, octal/hex encodings, and dangerous executable file extensions.</a:t>
            </a:r>
          </a:p>
        </p:txBody>
      </p:sp>
      <p:sp>
        <p:nvSpPr>
          <p:cNvPr id="10" name="Rounded Rectangle 9"/>
          <p:cNvSpPr/>
          <p:nvPr/>
        </p:nvSpPr>
        <p:spPr>
          <a:xfrm>
            <a:off x="4343400" y="1920240"/>
            <a:ext cx="3474720" cy="356616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663440" y="2148840"/>
            <a:ext cx="685800" cy="685800"/>
          </a:xfrm>
          <a:prstGeom prst="ellipse">
            <a:avLst/>
          </a:prstGeom>
          <a:solidFill>
            <a:srgbClr val="E1F2EE"/>
          </a:solidFill>
          <a:ln>
            <a:solidFill>
              <a:srgbClr val="0E8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search.png"/>
          <p:cNvPicPr>
            <a:picLocks noChangeAspect="1"/>
          </p:cNvPicPr>
          <p:nvPr/>
        </p:nvPicPr>
        <p:blipFill>
          <a:blip r:embed="rId4"/>
          <a:stretch>
            <a:fillRect/>
          </a:stretch>
        </p:blipFill>
        <p:spPr>
          <a:xfrm>
            <a:off x="4773168" y="2258568"/>
            <a:ext cx="457200" cy="457200"/>
          </a:xfrm>
          <a:prstGeom prst="rect">
            <a:avLst/>
          </a:prstGeom>
        </p:spPr>
      </p:pic>
      <p:sp>
        <p:nvSpPr>
          <p:cNvPr id="13" name="TextBox 12"/>
          <p:cNvSpPr txBox="1"/>
          <p:nvPr/>
        </p:nvSpPr>
        <p:spPr>
          <a:xfrm>
            <a:off x="4663440" y="2971800"/>
            <a:ext cx="2834640" cy="2377440"/>
          </a:xfrm>
          <a:prstGeom prst="rect">
            <a:avLst/>
          </a:prstGeom>
          <a:noFill/>
        </p:spPr>
        <p:txBody>
          <a:bodyPr wrap="square">
            <a:spAutoFit/>
          </a:bodyPr>
          <a:lstStyle/>
          <a:p>
            <a:pPr>
              <a:defRPr sz="1800" b="1">
                <a:solidFill>
                  <a:srgbClr val="0B3D4A"/>
                </a:solidFill>
                <a:latin typeface="Arial"/>
              </a:defRPr>
            </a:pPr>
            <a:r>
              <a:t>A* Heuristic Search</a:t>
            </a:r>
          </a:p>
          <a:p>
            <a:pPr>
              <a:spcAft>
                <a:spcPts val="800"/>
              </a:spcAft>
              <a:defRPr sz="1300" b="1">
                <a:solidFill>
                  <a:srgbClr val="0E8F86"/>
                </a:solidFill>
                <a:latin typeface="Arial"/>
              </a:defRPr>
            </a:pPr>
            <a:r>
              <a:t>Secondary AI Engine</a:t>
            </a:r>
          </a:p>
          <a:p>
            <a:pPr>
              <a:defRPr sz="1200">
                <a:solidFill>
                  <a:srgbClr val="12202B"/>
                </a:solidFill>
                <a:latin typeface="Arial"/>
              </a:defRPr>
            </a:pPr>
            <a:r>
              <a:t>Formulates string typosquatting as discrete graph search. Computes f(n)=g(n)+h(n) using an admissible length-discrepancy heuristic h(n) across 100+ curated brand names.</a:t>
            </a:r>
          </a:p>
        </p:txBody>
      </p:sp>
      <p:sp>
        <p:nvSpPr>
          <p:cNvPr id="14" name="Rounded Rectangle 13"/>
          <p:cNvSpPr/>
          <p:nvPr/>
        </p:nvSpPr>
        <p:spPr>
          <a:xfrm>
            <a:off x="8138160" y="1920240"/>
            <a:ext cx="3474720" cy="356616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458200" y="2148840"/>
            <a:ext cx="685800" cy="685800"/>
          </a:xfrm>
          <a:prstGeom prst="ellipse">
            <a:avLst/>
          </a:prstGeom>
          <a:solidFill>
            <a:srgbClr val="E1F2EE"/>
          </a:solidFill>
          <a:ln>
            <a:solidFill>
              <a:srgbClr val="0E8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logic.png"/>
          <p:cNvPicPr>
            <a:picLocks noChangeAspect="1"/>
          </p:cNvPicPr>
          <p:nvPr/>
        </p:nvPicPr>
        <p:blipFill>
          <a:blip r:embed="rId5"/>
          <a:stretch>
            <a:fillRect/>
          </a:stretch>
        </p:blipFill>
        <p:spPr>
          <a:xfrm>
            <a:off x="8567928" y="2258568"/>
            <a:ext cx="457200" cy="457200"/>
          </a:xfrm>
          <a:prstGeom prst="rect">
            <a:avLst/>
          </a:prstGeom>
        </p:spPr>
      </p:pic>
      <p:sp>
        <p:nvSpPr>
          <p:cNvPr id="17" name="TextBox 16"/>
          <p:cNvSpPr txBox="1"/>
          <p:nvPr/>
        </p:nvSpPr>
        <p:spPr>
          <a:xfrm>
            <a:off x="8458200" y="2971800"/>
            <a:ext cx="2834640" cy="2377440"/>
          </a:xfrm>
          <a:prstGeom prst="rect">
            <a:avLst/>
          </a:prstGeom>
          <a:noFill/>
        </p:spPr>
        <p:txBody>
          <a:bodyPr wrap="square">
            <a:spAutoFit/>
          </a:bodyPr>
          <a:lstStyle/>
          <a:p>
            <a:pPr>
              <a:defRPr sz="1800" b="1">
                <a:solidFill>
                  <a:srgbClr val="0B3D4A"/>
                </a:solidFill>
                <a:latin typeface="Arial"/>
              </a:defRPr>
            </a:pPr>
            <a:r>
              <a:t>PL-FC-Entails Logic</a:t>
            </a:r>
          </a:p>
          <a:p>
            <a:pPr>
              <a:spcAft>
                <a:spcPts val="800"/>
              </a:spcAft>
              <a:defRPr sz="1300" b="1">
                <a:solidFill>
                  <a:srgbClr val="0E8F86"/>
                </a:solidFill>
                <a:latin typeface="Arial"/>
              </a:defRPr>
            </a:pPr>
            <a:r>
              <a:t>Primary AI Reasoning</a:t>
            </a:r>
          </a:p>
          <a:p>
            <a:pPr>
              <a:defRPr sz="1200">
                <a:solidFill>
                  <a:srgbClr val="12202B"/>
                </a:solidFill>
                <a:latin typeface="Arial"/>
              </a:defRPr>
            </a:pPr>
            <a:r>
              <a:t>Forward-chaining inference over positive definite Horn clauses (P1 ^ ... ^ Pn =&gt; Q). Operates with an Agenda queue and dynamic premise count table in linear O(n) time.</a:t>
            </a:r>
          </a:p>
        </p:txBody>
      </p:sp>
      <p:sp>
        <p:nvSpPr>
          <p:cNvPr id="18" name="Rounded Rectangle 17"/>
          <p:cNvSpPr/>
          <p:nvPr/>
        </p:nvSpPr>
        <p:spPr>
          <a:xfrm>
            <a:off x="548640" y="5623560"/>
            <a:ext cx="11091672" cy="640080"/>
          </a:xfrm>
          <a:prstGeom prst="roundRect">
            <a:avLst/>
          </a:prstGeom>
          <a:solidFill>
            <a:srgbClr val="FFFFFF"/>
          </a:solidFill>
          <a:ln w="12700">
            <a:solidFill>
              <a:srgbClr val="0E8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5715000"/>
            <a:ext cx="10698480" cy="457200"/>
          </a:xfrm>
          <a:prstGeom prst="rect">
            <a:avLst/>
          </a:prstGeom>
          <a:noFill/>
        </p:spPr>
        <p:txBody>
          <a:bodyPr wrap="square">
            <a:spAutoFit/>
          </a:bodyPr>
          <a:lstStyle/>
          <a:p>
            <a:pPr>
              <a:defRPr sz="1250" b="1">
                <a:solidFill>
                  <a:srgbClr val="0B3D4A"/>
                </a:solidFill>
                <a:latin typeface="Arial"/>
              </a:defRPr>
            </a:pPr>
            <a:r>
              <a:t>100% Deterministic Architecture: Python 3.11 Standard Library + OpenCV (QR Decoder) + Flask Presentation. Zero external APIs or cloud dependencies.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EE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0972800" cy="292608"/>
          </a:xfrm>
          <a:prstGeom prst="rect">
            <a:avLst/>
          </a:prstGeom>
          <a:noFill/>
        </p:spPr>
        <p:txBody>
          <a:bodyPr wrap="square" lIns="0" tIns="0" rIns="0" bIns="0">
            <a:spAutoFit/>
          </a:bodyPr>
          <a:lstStyle/>
          <a:p>
            <a:pPr>
              <a:defRPr sz="1200" b="1">
                <a:solidFill>
                  <a:srgbClr val="0E8F86"/>
                </a:solidFill>
                <a:latin typeface="Courier New"/>
              </a:defRPr>
            </a:pPr>
            <a:r>
              <a:t>04 · KEY FEATURES</a:t>
            </a:r>
          </a:p>
        </p:txBody>
      </p:sp>
      <p:sp>
        <p:nvSpPr>
          <p:cNvPr id="4" name="TextBox 3"/>
          <p:cNvSpPr txBox="1"/>
          <p:nvPr/>
        </p:nvSpPr>
        <p:spPr>
          <a:xfrm>
            <a:off x="548640" y="694944"/>
            <a:ext cx="11091672" cy="1051560"/>
          </a:xfrm>
          <a:prstGeom prst="rect">
            <a:avLst/>
          </a:prstGeom>
          <a:noFill/>
        </p:spPr>
        <p:txBody>
          <a:bodyPr wrap="square" lIns="0" tIns="0" rIns="0" bIns="0">
            <a:spAutoFit/>
          </a:bodyPr>
          <a:lstStyle/>
          <a:p>
            <a:pPr>
              <a:defRPr sz="2500" b="1">
                <a:solidFill>
                  <a:srgbClr val="0B3D4A"/>
                </a:solidFill>
                <a:latin typeface="Arial"/>
              </a:defRPr>
            </a:pPr>
            <a:r>
              <a:t>SIX CAPABILITIES DELIVERING UNCOMPROMISED SECURITY</a:t>
            </a:r>
          </a:p>
        </p:txBody>
      </p:sp>
      <p:sp>
        <p:nvSpPr>
          <p:cNvPr id="5" name="TextBox 4"/>
          <p:cNvSpPr txBox="1"/>
          <p:nvPr/>
        </p:nvSpPr>
        <p:spPr>
          <a:xfrm>
            <a:off x="11155680" y="6400800"/>
            <a:ext cx="548640" cy="274320"/>
          </a:xfrm>
          <a:prstGeom prst="rect">
            <a:avLst/>
          </a:prstGeom>
          <a:noFill/>
        </p:spPr>
        <p:txBody>
          <a:bodyPr wrap="none">
            <a:spAutoFit/>
          </a:bodyPr>
          <a:lstStyle/>
          <a:p>
            <a:pPr>
              <a:defRPr sz="1100">
                <a:solidFill>
                  <a:srgbClr val="2C6E91"/>
                </a:solidFill>
                <a:latin typeface="Arial"/>
              </a:defRPr>
            </a:pPr>
            <a:r>
              <a:t>5</a:t>
            </a:r>
          </a:p>
        </p:txBody>
      </p:sp>
      <p:sp>
        <p:nvSpPr>
          <p:cNvPr id="6" name="Rounded Rectangle 5"/>
          <p:cNvSpPr/>
          <p:nvPr/>
        </p:nvSpPr>
        <p:spPr>
          <a:xfrm>
            <a:off x="548640" y="2011680"/>
            <a:ext cx="3474720" cy="1874519"/>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240280"/>
            <a:ext cx="548640" cy="548640"/>
          </a:xfrm>
          <a:prstGeom prst="ellipse">
            <a:avLst/>
          </a:prstGeom>
          <a:solidFill>
            <a:srgbClr val="E1F2EE"/>
          </a:solidFill>
          <a:ln>
            <a:solidFill>
              <a:srgbClr val="0E8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qr.png"/>
          <p:cNvPicPr>
            <a:picLocks noChangeAspect="1"/>
          </p:cNvPicPr>
          <p:nvPr/>
        </p:nvPicPr>
        <p:blipFill>
          <a:blip r:embed="rId3"/>
          <a:stretch>
            <a:fillRect/>
          </a:stretch>
        </p:blipFill>
        <p:spPr>
          <a:xfrm>
            <a:off x="868680" y="2331720"/>
            <a:ext cx="365760" cy="365760"/>
          </a:xfrm>
          <a:prstGeom prst="rect">
            <a:avLst/>
          </a:prstGeom>
        </p:spPr>
      </p:pic>
      <p:sp>
        <p:nvSpPr>
          <p:cNvPr id="9" name="TextBox 8"/>
          <p:cNvSpPr txBox="1"/>
          <p:nvPr/>
        </p:nvSpPr>
        <p:spPr>
          <a:xfrm>
            <a:off x="1463040" y="2240280"/>
            <a:ext cx="2423160" cy="548640"/>
          </a:xfrm>
          <a:prstGeom prst="rect">
            <a:avLst/>
          </a:prstGeom>
          <a:noFill/>
        </p:spPr>
        <p:txBody>
          <a:bodyPr wrap="square">
            <a:spAutoFit/>
          </a:bodyPr>
          <a:lstStyle/>
          <a:p>
            <a:pPr>
              <a:defRPr sz="1400" b="1">
                <a:solidFill>
                  <a:srgbClr val="0B3D4A"/>
                </a:solidFill>
                <a:latin typeface="Arial"/>
              </a:defRPr>
            </a:pPr>
            <a:r>
              <a:t>Offline QR Matrix Decoding</a:t>
            </a:r>
          </a:p>
        </p:txBody>
      </p:sp>
      <p:sp>
        <p:nvSpPr>
          <p:cNvPr id="10" name="TextBox 9"/>
          <p:cNvSpPr txBox="1"/>
          <p:nvPr/>
        </p:nvSpPr>
        <p:spPr>
          <a:xfrm>
            <a:off x="777240" y="2880360"/>
            <a:ext cx="3063240" cy="868680"/>
          </a:xfrm>
          <a:prstGeom prst="rect">
            <a:avLst/>
          </a:prstGeom>
          <a:noFill/>
        </p:spPr>
        <p:txBody>
          <a:bodyPr wrap="square">
            <a:spAutoFit/>
          </a:bodyPr>
          <a:lstStyle/>
          <a:p>
            <a:pPr>
              <a:defRPr sz="1150">
                <a:solidFill>
                  <a:srgbClr val="12202B"/>
                </a:solidFill>
                <a:latin typeface="Arial"/>
              </a:defRPr>
            </a:pPr>
            <a:r>
              <a:t>Extracts 2D barcode payload via OpenCV without network communication or cloud telemetry.</a:t>
            </a:r>
          </a:p>
        </p:txBody>
      </p:sp>
      <p:sp>
        <p:nvSpPr>
          <p:cNvPr id="11" name="Rounded Rectangle 10"/>
          <p:cNvSpPr/>
          <p:nvPr/>
        </p:nvSpPr>
        <p:spPr>
          <a:xfrm>
            <a:off x="4343400" y="2011680"/>
            <a:ext cx="3474720" cy="1874519"/>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572000" y="2240280"/>
            <a:ext cx="548640" cy="548640"/>
          </a:xfrm>
          <a:prstGeom prst="ellipse">
            <a:avLst/>
          </a:prstGeom>
          <a:solidFill>
            <a:srgbClr val="E1F2EE"/>
          </a:solidFill>
          <a:ln>
            <a:solidFill>
              <a:srgbClr val="0E8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parser.png"/>
          <p:cNvPicPr>
            <a:picLocks noChangeAspect="1"/>
          </p:cNvPicPr>
          <p:nvPr/>
        </p:nvPicPr>
        <p:blipFill>
          <a:blip r:embed="rId4"/>
          <a:stretch>
            <a:fillRect/>
          </a:stretch>
        </p:blipFill>
        <p:spPr>
          <a:xfrm>
            <a:off x="4663440" y="2331720"/>
            <a:ext cx="365760" cy="365760"/>
          </a:xfrm>
          <a:prstGeom prst="rect">
            <a:avLst/>
          </a:prstGeom>
        </p:spPr>
      </p:pic>
      <p:sp>
        <p:nvSpPr>
          <p:cNvPr id="14" name="TextBox 13"/>
          <p:cNvSpPr txBox="1"/>
          <p:nvPr/>
        </p:nvSpPr>
        <p:spPr>
          <a:xfrm>
            <a:off x="5257800" y="2240280"/>
            <a:ext cx="2423160" cy="548640"/>
          </a:xfrm>
          <a:prstGeom prst="rect">
            <a:avLst/>
          </a:prstGeom>
          <a:noFill/>
        </p:spPr>
        <p:txBody>
          <a:bodyPr wrap="square">
            <a:spAutoFit/>
          </a:bodyPr>
          <a:lstStyle/>
          <a:p>
            <a:pPr>
              <a:defRPr sz="1400" b="1">
                <a:solidFill>
                  <a:srgbClr val="0B3D4A"/>
                </a:solidFill>
                <a:latin typeface="Arial"/>
              </a:defRPr>
            </a:pPr>
            <a:r>
              <a:t>Lexical Anatomy Analysis</a:t>
            </a:r>
          </a:p>
        </p:txBody>
      </p:sp>
      <p:sp>
        <p:nvSpPr>
          <p:cNvPr id="15" name="TextBox 14"/>
          <p:cNvSpPr txBox="1"/>
          <p:nvPr/>
        </p:nvSpPr>
        <p:spPr>
          <a:xfrm>
            <a:off x="4572000" y="2880360"/>
            <a:ext cx="3063240" cy="868680"/>
          </a:xfrm>
          <a:prstGeom prst="rect">
            <a:avLst/>
          </a:prstGeom>
          <a:noFill/>
        </p:spPr>
        <p:txBody>
          <a:bodyPr wrap="square">
            <a:spAutoFit/>
          </a:bodyPr>
          <a:lstStyle/>
          <a:p>
            <a:pPr>
              <a:defRPr sz="1150">
                <a:solidFill>
                  <a:srgbClr val="12202B"/>
                </a:solidFill>
                <a:latin typeface="Arial"/>
              </a:defRPr>
            </a:pPr>
            <a:r>
              <a:t>Deconstructs credentials (@ symbol), raw IP hosts, non-standard ports, and file extensions.</a:t>
            </a:r>
          </a:p>
        </p:txBody>
      </p:sp>
      <p:sp>
        <p:nvSpPr>
          <p:cNvPr id="16" name="Rounded Rectangle 15"/>
          <p:cNvSpPr/>
          <p:nvPr/>
        </p:nvSpPr>
        <p:spPr>
          <a:xfrm>
            <a:off x="8138160" y="2011680"/>
            <a:ext cx="3474720" cy="1874519"/>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366760" y="2240280"/>
            <a:ext cx="548640" cy="548640"/>
          </a:xfrm>
          <a:prstGeom prst="ellipse">
            <a:avLst/>
          </a:prstGeom>
          <a:solidFill>
            <a:srgbClr val="E1F2EE"/>
          </a:solidFill>
          <a:ln>
            <a:solidFill>
              <a:srgbClr val="0E8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typo.png"/>
          <p:cNvPicPr>
            <a:picLocks noChangeAspect="1"/>
          </p:cNvPicPr>
          <p:nvPr/>
        </p:nvPicPr>
        <p:blipFill>
          <a:blip r:embed="rId5"/>
          <a:stretch>
            <a:fillRect/>
          </a:stretch>
        </p:blipFill>
        <p:spPr>
          <a:xfrm>
            <a:off x="8458200" y="2331720"/>
            <a:ext cx="365760" cy="365760"/>
          </a:xfrm>
          <a:prstGeom prst="rect">
            <a:avLst/>
          </a:prstGeom>
        </p:spPr>
      </p:pic>
      <p:sp>
        <p:nvSpPr>
          <p:cNvPr id="19" name="TextBox 18"/>
          <p:cNvSpPr txBox="1"/>
          <p:nvPr/>
        </p:nvSpPr>
        <p:spPr>
          <a:xfrm>
            <a:off x="9052560" y="2240280"/>
            <a:ext cx="2423160" cy="548640"/>
          </a:xfrm>
          <a:prstGeom prst="rect">
            <a:avLst/>
          </a:prstGeom>
          <a:noFill/>
        </p:spPr>
        <p:txBody>
          <a:bodyPr wrap="square">
            <a:spAutoFit/>
          </a:bodyPr>
          <a:lstStyle/>
          <a:p>
            <a:pPr>
              <a:defRPr sz="1400" b="1">
                <a:solidFill>
                  <a:srgbClr val="0B3D4A"/>
                </a:solidFill>
                <a:latin typeface="Arial"/>
              </a:defRPr>
            </a:pPr>
            <a:r>
              <a:t>A* Brand Typosquatting</a:t>
            </a:r>
          </a:p>
        </p:txBody>
      </p:sp>
      <p:sp>
        <p:nvSpPr>
          <p:cNvPr id="20" name="TextBox 19"/>
          <p:cNvSpPr txBox="1"/>
          <p:nvPr/>
        </p:nvSpPr>
        <p:spPr>
          <a:xfrm>
            <a:off x="8366760" y="2880360"/>
            <a:ext cx="3063240" cy="868680"/>
          </a:xfrm>
          <a:prstGeom prst="rect">
            <a:avLst/>
          </a:prstGeom>
          <a:noFill/>
        </p:spPr>
        <p:txBody>
          <a:bodyPr wrap="square">
            <a:spAutoFit/>
          </a:bodyPr>
          <a:lstStyle/>
          <a:p>
            <a:pPr>
              <a:defRPr sz="1150">
                <a:solidFill>
                  <a:srgbClr val="12202B"/>
                </a:solidFill>
                <a:latin typeface="Arial"/>
              </a:defRPr>
            </a:pPr>
            <a:r>
              <a:t>Detects lookalikes (e.g. 'paypa1', 'g00gle') using admissible heuristic search against 100+ brands.</a:t>
            </a:r>
          </a:p>
        </p:txBody>
      </p:sp>
      <p:sp>
        <p:nvSpPr>
          <p:cNvPr id="21" name="Rounded Rectangle 20"/>
          <p:cNvSpPr/>
          <p:nvPr/>
        </p:nvSpPr>
        <p:spPr>
          <a:xfrm>
            <a:off x="548640" y="4114800"/>
            <a:ext cx="3474720" cy="1874519"/>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77240" y="4343400"/>
            <a:ext cx="548640" cy="548640"/>
          </a:xfrm>
          <a:prstGeom prst="ellipse">
            <a:avLst/>
          </a:prstGeom>
          <a:solidFill>
            <a:srgbClr val="E1F2EE"/>
          </a:solidFill>
          <a:ln>
            <a:solidFill>
              <a:srgbClr val="0E8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logic.png"/>
          <p:cNvPicPr>
            <a:picLocks noChangeAspect="1"/>
          </p:cNvPicPr>
          <p:nvPr/>
        </p:nvPicPr>
        <p:blipFill>
          <a:blip r:embed="rId6"/>
          <a:stretch>
            <a:fillRect/>
          </a:stretch>
        </p:blipFill>
        <p:spPr>
          <a:xfrm>
            <a:off x="868680" y="4434840"/>
            <a:ext cx="365760" cy="365760"/>
          </a:xfrm>
          <a:prstGeom prst="rect">
            <a:avLst/>
          </a:prstGeom>
        </p:spPr>
      </p:pic>
      <p:sp>
        <p:nvSpPr>
          <p:cNvPr id="24" name="TextBox 23"/>
          <p:cNvSpPr txBox="1"/>
          <p:nvPr/>
        </p:nvSpPr>
        <p:spPr>
          <a:xfrm>
            <a:off x="1463040" y="4343400"/>
            <a:ext cx="2423160" cy="548640"/>
          </a:xfrm>
          <a:prstGeom prst="rect">
            <a:avLst/>
          </a:prstGeom>
          <a:noFill/>
        </p:spPr>
        <p:txBody>
          <a:bodyPr wrap="square">
            <a:spAutoFit/>
          </a:bodyPr>
          <a:lstStyle/>
          <a:p>
            <a:pPr>
              <a:defRPr sz="1400" b="1">
                <a:solidFill>
                  <a:srgbClr val="0B3D4A"/>
                </a:solidFill>
                <a:latin typeface="Arial"/>
              </a:defRPr>
            </a:pPr>
            <a:r>
              <a:t>Forward-Chaining Reasoning</a:t>
            </a:r>
          </a:p>
        </p:txBody>
      </p:sp>
      <p:sp>
        <p:nvSpPr>
          <p:cNvPr id="25" name="TextBox 24"/>
          <p:cNvSpPr txBox="1"/>
          <p:nvPr/>
        </p:nvSpPr>
        <p:spPr>
          <a:xfrm>
            <a:off x="777240" y="4983480"/>
            <a:ext cx="3063240" cy="868680"/>
          </a:xfrm>
          <a:prstGeom prst="rect">
            <a:avLst/>
          </a:prstGeom>
          <a:noFill/>
        </p:spPr>
        <p:txBody>
          <a:bodyPr wrap="square">
            <a:spAutoFit/>
          </a:bodyPr>
          <a:lstStyle/>
          <a:p>
            <a:pPr>
              <a:defRPr sz="1150">
                <a:solidFill>
                  <a:srgbClr val="12202B"/>
                </a:solidFill>
                <a:latin typeface="Arial"/>
              </a:defRPr>
            </a:pPr>
            <a:r>
              <a:t>Propositional Horn logic engine guarantees deterministic risk deductions with zero hallucination.</a:t>
            </a:r>
          </a:p>
        </p:txBody>
      </p:sp>
      <p:sp>
        <p:nvSpPr>
          <p:cNvPr id="26" name="Rounded Rectangle 25"/>
          <p:cNvSpPr/>
          <p:nvPr/>
        </p:nvSpPr>
        <p:spPr>
          <a:xfrm>
            <a:off x="4343400" y="4114800"/>
            <a:ext cx="3474720" cy="1874519"/>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572000" y="4343400"/>
            <a:ext cx="548640" cy="548640"/>
          </a:xfrm>
          <a:prstGeom prst="ellipse">
            <a:avLst/>
          </a:prstGeom>
          <a:solidFill>
            <a:srgbClr val="E1F2EE"/>
          </a:solidFill>
          <a:ln>
            <a:solidFill>
              <a:srgbClr val="0E8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prooftree.png"/>
          <p:cNvPicPr>
            <a:picLocks noChangeAspect="1"/>
          </p:cNvPicPr>
          <p:nvPr/>
        </p:nvPicPr>
        <p:blipFill>
          <a:blip r:embed="rId7"/>
          <a:stretch>
            <a:fillRect/>
          </a:stretch>
        </p:blipFill>
        <p:spPr>
          <a:xfrm>
            <a:off x="4663440" y="4434840"/>
            <a:ext cx="365760" cy="365760"/>
          </a:xfrm>
          <a:prstGeom prst="rect">
            <a:avLst/>
          </a:prstGeom>
        </p:spPr>
      </p:pic>
      <p:sp>
        <p:nvSpPr>
          <p:cNvPr id="29" name="TextBox 28"/>
          <p:cNvSpPr txBox="1"/>
          <p:nvPr/>
        </p:nvSpPr>
        <p:spPr>
          <a:xfrm>
            <a:off x="5257800" y="4343400"/>
            <a:ext cx="2423160" cy="548640"/>
          </a:xfrm>
          <a:prstGeom prst="rect">
            <a:avLst/>
          </a:prstGeom>
          <a:noFill/>
        </p:spPr>
        <p:txBody>
          <a:bodyPr wrap="square">
            <a:spAutoFit/>
          </a:bodyPr>
          <a:lstStyle/>
          <a:p>
            <a:pPr>
              <a:defRPr sz="1400" b="1">
                <a:solidFill>
                  <a:srgbClr val="0B3D4A"/>
                </a:solidFill>
                <a:latin typeface="Arial"/>
              </a:defRPr>
            </a:pPr>
            <a:r>
              <a:t>Explainable Proof Trees</a:t>
            </a:r>
          </a:p>
        </p:txBody>
      </p:sp>
      <p:sp>
        <p:nvSpPr>
          <p:cNvPr id="30" name="TextBox 29"/>
          <p:cNvSpPr txBox="1"/>
          <p:nvPr/>
        </p:nvSpPr>
        <p:spPr>
          <a:xfrm>
            <a:off x="4572000" y="4983480"/>
            <a:ext cx="3063240" cy="868680"/>
          </a:xfrm>
          <a:prstGeom prst="rect">
            <a:avLst/>
          </a:prstGeom>
          <a:noFill/>
        </p:spPr>
        <p:txBody>
          <a:bodyPr wrap="square">
            <a:spAutoFit/>
          </a:bodyPr>
          <a:lstStyle/>
          <a:p>
            <a:pPr>
              <a:defRPr sz="1150">
                <a:solidFill>
                  <a:srgbClr val="12202B"/>
                </a:solidFill>
                <a:latin typeface="Arial"/>
              </a:defRPr>
            </a:pPr>
            <a:r>
              <a:t>Synthesizes Directed Acyclic Graphs linking raw lexical facts to rules and final verdict.</a:t>
            </a:r>
          </a:p>
        </p:txBody>
      </p:sp>
      <p:sp>
        <p:nvSpPr>
          <p:cNvPr id="31" name="Rounded Rectangle 30"/>
          <p:cNvSpPr/>
          <p:nvPr/>
        </p:nvSpPr>
        <p:spPr>
          <a:xfrm>
            <a:off x="8138160" y="4114800"/>
            <a:ext cx="3474720" cy="1874519"/>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366760" y="4343400"/>
            <a:ext cx="548640" cy="548640"/>
          </a:xfrm>
          <a:prstGeom prst="ellipse">
            <a:avLst/>
          </a:prstGeom>
          <a:solidFill>
            <a:srgbClr val="E1F2EE"/>
          </a:solidFill>
          <a:ln>
            <a:solidFill>
              <a:srgbClr val="0E8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dashboard.png"/>
          <p:cNvPicPr>
            <a:picLocks noChangeAspect="1"/>
          </p:cNvPicPr>
          <p:nvPr/>
        </p:nvPicPr>
        <p:blipFill>
          <a:blip r:embed="rId8"/>
          <a:stretch>
            <a:fillRect/>
          </a:stretch>
        </p:blipFill>
        <p:spPr>
          <a:xfrm>
            <a:off x="8458200" y="4434840"/>
            <a:ext cx="365760" cy="365760"/>
          </a:xfrm>
          <a:prstGeom prst="rect">
            <a:avLst/>
          </a:prstGeom>
        </p:spPr>
      </p:pic>
      <p:sp>
        <p:nvSpPr>
          <p:cNvPr id="34" name="TextBox 33"/>
          <p:cNvSpPr txBox="1"/>
          <p:nvPr/>
        </p:nvSpPr>
        <p:spPr>
          <a:xfrm>
            <a:off x="9052560" y="4343400"/>
            <a:ext cx="2423160" cy="548640"/>
          </a:xfrm>
          <a:prstGeom prst="rect">
            <a:avLst/>
          </a:prstGeom>
          <a:noFill/>
        </p:spPr>
        <p:txBody>
          <a:bodyPr wrap="square">
            <a:spAutoFit/>
          </a:bodyPr>
          <a:lstStyle/>
          <a:p>
            <a:pPr>
              <a:defRPr sz="1400" b="1">
                <a:solidFill>
                  <a:srgbClr val="0B3D4A"/>
                </a:solidFill>
                <a:latin typeface="Arial"/>
              </a:defRPr>
            </a:pPr>
            <a:r>
              <a:t>Interactive Web Dashboard</a:t>
            </a:r>
          </a:p>
        </p:txBody>
      </p:sp>
      <p:sp>
        <p:nvSpPr>
          <p:cNvPr id="35" name="TextBox 34"/>
          <p:cNvSpPr txBox="1"/>
          <p:nvPr/>
        </p:nvSpPr>
        <p:spPr>
          <a:xfrm>
            <a:off x="8366760" y="4983480"/>
            <a:ext cx="3063240" cy="868680"/>
          </a:xfrm>
          <a:prstGeom prst="rect">
            <a:avLst/>
          </a:prstGeom>
          <a:noFill/>
        </p:spPr>
        <p:txBody>
          <a:bodyPr wrap="square">
            <a:spAutoFit/>
          </a:bodyPr>
          <a:lstStyle/>
          <a:p>
            <a:pPr>
              <a:defRPr sz="1150">
                <a:solidFill>
                  <a:srgbClr val="12202B"/>
                </a:solidFill>
                <a:latin typeface="Arial"/>
              </a:defRPr>
            </a:pPr>
            <a:r>
              <a:t>Clean presentation dashboard featuring real-time risk screening and live SVG proof-tree viewer.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EE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0972800" cy="292608"/>
          </a:xfrm>
          <a:prstGeom prst="rect">
            <a:avLst/>
          </a:prstGeom>
          <a:noFill/>
        </p:spPr>
        <p:txBody>
          <a:bodyPr wrap="square" lIns="0" tIns="0" rIns="0" bIns="0">
            <a:spAutoFit/>
          </a:bodyPr>
          <a:lstStyle/>
          <a:p>
            <a:pPr>
              <a:defRPr sz="1200" b="1">
                <a:solidFill>
                  <a:srgbClr val="0E8F86"/>
                </a:solidFill>
                <a:latin typeface="Courier New"/>
              </a:defRPr>
            </a:pPr>
            <a:r>
              <a:t>05 · HOW IT WORKS</a:t>
            </a:r>
          </a:p>
        </p:txBody>
      </p:sp>
      <p:sp>
        <p:nvSpPr>
          <p:cNvPr id="4" name="TextBox 3"/>
          <p:cNvSpPr txBox="1"/>
          <p:nvPr/>
        </p:nvSpPr>
        <p:spPr>
          <a:xfrm>
            <a:off x="548640" y="694944"/>
            <a:ext cx="11091672" cy="1051560"/>
          </a:xfrm>
          <a:prstGeom prst="rect">
            <a:avLst/>
          </a:prstGeom>
          <a:noFill/>
        </p:spPr>
        <p:txBody>
          <a:bodyPr wrap="square" lIns="0" tIns="0" rIns="0" bIns="0">
            <a:spAutoFit/>
          </a:bodyPr>
          <a:lstStyle/>
          <a:p>
            <a:pPr>
              <a:defRPr sz="2500" b="1">
                <a:solidFill>
                  <a:srgbClr val="0B3D4A"/>
                </a:solidFill>
                <a:latin typeface="Arial"/>
              </a:defRPr>
            </a:pPr>
            <a:r>
              <a:t>FIVE SEQUENTIAL PHASES FROM INPUT TO PROVEN RISK VERDICT</a:t>
            </a:r>
          </a:p>
        </p:txBody>
      </p:sp>
      <p:sp>
        <p:nvSpPr>
          <p:cNvPr id="5" name="TextBox 4"/>
          <p:cNvSpPr txBox="1"/>
          <p:nvPr/>
        </p:nvSpPr>
        <p:spPr>
          <a:xfrm>
            <a:off x="11155680" y="6400800"/>
            <a:ext cx="548640" cy="274320"/>
          </a:xfrm>
          <a:prstGeom prst="rect">
            <a:avLst/>
          </a:prstGeom>
          <a:noFill/>
        </p:spPr>
        <p:txBody>
          <a:bodyPr wrap="none">
            <a:spAutoFit/>
          </a:bodyPr>
          <a:lstStyle/>
          <a:p>
            <a:pPr>
              <a:defRPr sz="1100">
                <a:solidFill>
                  <a:srgbClr val="2C6E91"/>
                </a:solidFill>
                <a:latin typeface="Arial"/>
              </a:defRPr>
            </a:pPr>
            <a:r>
              <a:t>6</a:t>
            </a:r>
          </a:p>
        </p:txBody>
      </p:sp>
      <p:sp>
        <p:nvSpPr>
          <p:cNvPr id="6" name="Rectangle 5"/>
          <p:cNvSpPr/>
          <p:nvPr/>
        </p:nvSpPr>
        <p:spPr>
          <a:xfrm>
            <a:off x="1417320" y="2624328"/>
            <a:ext cx="1417320" cy="54864"/>
          </a:xfrm>
          <a:prstGeom prst="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94360" y="2240280"/>
            <a:ext cx="822960" cy="822960"/>
          </a:xfrm>
          <a:prstGeom prst="ellipse">
            <a:avLst/>
          </a:prstGeom>
          <a:solidFill>
            <a:srgbClr val="0E8F86"/>
          </a:solidFill>
          <a:ln w="25400">
            <a:solidFill>
              <a:srgbClr val="0B3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2240280"/>
            <a:ext cx="822960" cy="822960"/>
          </a:xfrm>
          <a:prstGeom prst="rect">
            <a:avLst/>
          </a:prstGeom>
          <a:noFill/>
        </p:spPr>
        <p:txBody>
          <a:bodyPr wrap="none">
            <a:spAutoFit/>
          </a:bodyPr>
          <a:lstStyle/>
          <a:p>
            <a:pPr algn="ctr">
              <a:defRPr sz="2600" b="1">
                <a:solidFill>
                  <a:srgbClr val="FFFFFF"/>
                </a:solidFill>
                <a:latin typeface="Arial"/>
              </a:defRPr>
            </a:pPr>
            <a:r>
              <a:t>1</a:t>
            </a:r>
          </a:p>
        </p:txBody>
      </p:sp>
      <p:sp>
        <p:nvSpPr>
          <p:cNvPr id="9" name="Rounded Rectangle 8"/>
          <p:cNvSpPr/>
          <p:nvPr/>
        </p:nvSpPr>
        <p:spPr>
          <a:xfrm>
            <a:off x="457200" y="3429000"/>
            <a:ext cx="2194560" cy="246888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3566160"/>
            <a:ext cx="2011680" cy="411480"/>
          </a:xfrm>
          <a:prstGeom prst="rect">
            <a:avLst/>
          </a:prstGeom>
          <a:noFill/>
        </p:spPr>
        <p:txBody>
          <a:bodyPr wrap="none">
            <a:spAutoFit/>
          </a:bodyPr>
          <a:lstStyle/>
          <a:p>
            <a:pPr algn="ctr">
              <a:defRPr sz="1700" b="1">
                <a:solidFill>
                  <a:srgbClr val="0B3D4A"/>
                </a:solidFill>
                <a:latin typeface="Arial"/>
              </a:defRPr>
            </a:pPr>
            <a:r>
              <a:t>Input</a:t>
            </a:r>
          </a:p>
        </p:txBody>
      </p:sp>
      <p:sp>
        <p:nvSpPr>
          <p:cNvPr id="11" name="TextBox 10"/>
          <p:cNvSpPr txBox="1"/>
          <p:nvPr/>
        </p:nvSpPr>
        <p:spPr>
          <a:xfrm>
            <a:off x="594360" y="4069080"/>
            <a:ext cx="1920240" cy="1645920"/>
          </a:xfrm>
          <a:prstGeom prst="rect">
            <a:avLst/>
          </a:prstGeom>
          <a:noFill/>
        </p:spPr>
        <p:txBody>
          <a:bodyPr wrap="square">
            <a:spAutoFit/>
          </a:bodyPr>
          <a:lstStyle/>
          <a:p>
            <a:pPr>
              <a:defRPr sz="1200">
                <a:solidFill>
                  <a:srgbClr val="12202B"/>
                </a:solidFill>
                <a:latin typeface="Arial"/>
              </a:defRPr>
            </a:pPr>
            <a:r>
              <a:t>URL string or offline QR code image upload.</a:t>
            </a:r>
          </a:p>
        </p:txBody>
      </p:sp>
      <p:sp>
        <p:nvSpPr>
          <p:cNvPr id="12" name="Rectangle 11"/>
          <p:cNvSpPr/>
          <p:nvPr/>
        </p:nvSpPr>
        <p:spPr>
          <a:xfrm>
            <a:off x="3657600" y="2624328"/>
            <a:ext cx="1417320" cy="54864"/>
          </a:xfrm>
          <a:prstGeom prst="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2834640" y="2240280"/>
            <a:ext cx="822960" cy="822960"/>
          </a:xfrm>
          <a:prstGeom prst="ellipse">
            <a:avLst/>
          </a:prstGeom>
          <a:solidFill>
            <a:srgbClr val="0E8F86"/>
          </a:solidFill>
          <a:ln w="25400">
            <a:solidFill>
              <a:srgbClr val="0B3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834640" y="2240280"/>
            <a:ext cx="822960" cy="822960"/>
          </a:xfrm>
          <a:prstGeom prst="rect">
            <a:avLst/>
          </a:prstGeom>
          <a:noFill/>
        </p:spPr>
        <p:txBody>
          <a:bodyPr wrap="none">
            <a:spAutoFit/>
          </a:bodyPr>
          <a:lstStyle/>
          <a:p>
            <a:pPr algn="ctr">
              <a:defRPr sz="2600" b="1">
                <a:solidFill>
                  <a:srgbClr val="FFFFFF"/>
                </a:solidFill>
                <a:latin typeface="Arial"/>
              </a:defRPr>
            </a:pPr>
            <a:r>
              <a:t>2</a:t>
            </a:r>
          </a:p>
        </p:txBody>
      </p:sp>
      <p:sp>
        <p:nvSpPr>
          <p:cNvPr id="15" name="Rounded Rectangle 14"/>
          <p:cNvSpPr/>
          <p:nvPr/>
        </p:nvSpPr>
        <p:spPr>
          <a:xfrm>
            <a:off x="2697480" y="3429000"/>
            <a:ext cx="2194560" cy="246888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88920" y="3566160"/>
            <a:ext cx="2011680" cy="411480"/>
          </a:xfrm>
          <a:prstGeom prst="rect">
            <a:avLst/>
          </a:prstGeom>
          <a:noFill/>
        </p:spPr>
        <p:txBody>
          <a:bodyPr wrap="none">
            <a:spAutoFit/>
          </a:bodyPr>
          <a:lstStyle/>
          <a:p>
            <a:pPr algn="ctr">
              <a:defRPr sz="1700" b="1">
                <a:solidFill>
                  <a:srgbClr val="0B3D4A"/>
                </a:solidFill>
                <a:latin typeface="Arial"/>
              </a:defRPr>
            </a:pPr>
            <a:r>
              <a:t>Lexical Parse</a:t>
            </a:r>
          </a:p>
        </p:txBody>
      </p:sp>
      <p:sp>
        <p:nvSpPr>
          <p:cNvPr id="17" name="TextBox 16"/>
          <p:cNvSpPr txBox="1"/>
          <p:nvPr/>
        </p:nvSpPr>
        <p:spPr>
          <a:xfrm>
            <a:off x="2834640" y="4069080"/>
            <a:ext cx="1920240" cy="1645920"/>
          </a:xfrm>
          <a:prstGeom prst="rect">
            <a:avLst/>
          </a:prstGeom>
          <a:noFill/>
        </p:spPr>
        <p:txBody>
          <a:bodyPr wrap="square">
            <a:spAutoFit/>
          </a:bodyPr>
          <a:lstStyle/>
          <a:p>
            <a:pPr>
              <a:defRPr sz="1200">
                <a:solidFill>
                  <a:srgbClr val="12202B"/>
                </a:solidFill>
                <a:latin typeface="Arial"/>
              </a:defRPr>
            </a:pPr>
            <a:r>
              <a:t>RFC 3986 parser extracts Scheme, Host, Path, Port &amp; Userinfo.</a:t>
            </a:r>
          </a:p>
        </p:txBody>
      </p:sp>
      <p:sp>
        <p:nvSpPr>
          <p:cNvPr id="18" name="Rectangle 17"/>
          <p:cNvSpPr/>
          <p:nvPr/>
        </p:nvSpPr>
        <p:spPr>
          <a:xfrm>
            <a:off x="5897880" y="2624328"/>
            <a:ext cx="1417320" cy="54864"/>
          </a:xfrm>
          <a:prstGeom prst="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074920" y="2240280"/>
            <a:ext cx="822960" cy="822960"/>
          </a:xfrm>
          <a:prstGeom prst="ellipse">
            <a:avLst/>
          </a:prstGeom>
          <a:solidFill>
            <a:srgbClr val="0E8F86"/>
          </a:solidFill>
          <a:ln w="25400">
            <a:solidFill>
              <a:srgbClr val="0B3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74920" y="2240280"/>
            <a:ext cx="822960" cy="822960"/>
          </a:xfrm>
          <a:prstGeom prst="rect">
            <a:avLst/>
          </a:prstGeom>
          <a:noFill/>
        </p:spPr>
        <p:txBody>
          <a:bodyPr wrap="none">
            <a:spAutoFit/>
          </a:bodyPr>
          <a:lstStyle/>
          <a:p>
            <a:pPr algn="ctr">
              <a:defRPr sz="2600" b="1">
                <a:solidFill>
                  <a:srgbClr val="FFFFFF"/>
                </a:solidFill>
                <a:latin typeface="Arial"/>
              </a:defRPr>
            </a:pPr>
            <a:r>
              <a:t>3</a:t>
            </a:r>
          </a:p>
        </p:txBody>
      </p:sp>
      <p:sp>
        <p:nvSpPr>
          <p:cNvPr id="21" name="Rounded Rectangle 20"/>
          <p:cNvSpPr/>
          <p:nvPr/>
        </p:nvSpPr>
        <p:spPr>
          <a:xfrm>
            <a:off x="4937760" y="3429000"/>
            <a:ext cx="2194560" cy="246888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29200" y="3566160"/>
            <a:ext cx="2011680" cy="411480"/>
          </a:xfrm>
          <a:prstGeom prst="rect">
            <a:avLst/>
          </a:prstGeom>
          <a:noFill/>
        </p:spPr>
        <p:txBody>
          <a:bodyPr wrap="none">
            <a:spAutoFit/>
          </a:bodyPr>
          <a:lstStyle/>
          <a:p>
            <a:pPr algn="ctr">
              <a:defRPr sz="1700" b="1">
                <a:solidFill>
                  <a:srgbClr val="0B3D4A"/>
                </a:solidFill>
                <a:latin typeface="Arial"/>
              </a:defRPr>
            </a:pPr>
            <a:r>
              <a:t>A* Search</a:t>
            </a:r>
          </a:p>
        </p:txBody>
      </p:sp>
      <p:sp>
        <p:nvSpPr>
          <p:cNvPr id="23" name="TextBox 22"/>
          <p:cNvSpPr txBox="1"/>
          <p:nvPr/>
        </p:nvSpPr>
        <p:spPr>
          <a:xfrm>
            <a:off x="5074920" y="4069080"/>
            <a:ext cx="1920240" cy="1645920"/>
          </a:xfrm>
          <a:prstGeom prst="rect">
            <a:avLst/>
          </a:prstGeom>
          <a:noFill/>
        </p:spPr>
        <p:txBody>
          <a:bodyPr wrap="square">
            <a:spAutoFit/>
          </a:bodyPr>
          <a:lstStyle/>
          <a:p>
            <a:pPr>
              <a:defRPr sz="1200">
                <a:solidFill>
                  <a:srgbClr val="12202B"/>
                </a:solidFill>
                <a:latin typeface="Arial"/>
              </a:defRPr>
            </a:pPr>
            <a:r>
              <a:t>Computes optimal edit distance path vs brand dictionary.</a:t>
            </a:r>
          </a:p>
        </p:txBody>
      </p:sp>
      <p:sp>
        <p:nvSpPr>
          <p:cNvPr id="24" name="Rectangle 23"/>
          <p:cNvSpPr/>
          <p:nvPr/>
        </p:nvSpPr>
        <p:spPr>
          <a:xfrm>
            <a:off x="8138160" y="2624328"/>
            <a:ext cx="1417320" cy="54864"/>
          </a:xfrm>
          <a:prstGeom prst="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7315200" y="2240280"/>
            <a:ext cx="822960" cy="822960"/>
          </a:xfrm>
          <a:prstGeom prst="ellipse">
            <a:avLst/>
          </a:prstGeom>
          <a:solidFill>
            <a:srgbClr val="0E8F86"/>
          </a:solidFill>
          <a:ln w="25400">
            <a:solidFill>
              <a:srgbClr val="0B3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15200" y="2240280"/>
            <a:ext cx="822960" cy="822960"/>
          </a:xfrm>
          <a:prstGeom prst="rect">
            <a:avLst/>
          </a:prstGeom>
          <a:noFill/>
        </p:spPr>
        <p:txBody>
          <a:bodyPr wrap="none">
            <a:spAutoFit/>
          </a:bodyPr>
          <a:lstStyle/>
          <a:p>
            <a:pPr algn="ctr">
              <a:defRPr sz="2600" b="1">
                <a:solidFill>
                  <a:srgbClr val="FFFFFF"/>
                </a:solidFill>
                <a:latin typeface="Arial"/>
              </a:defRPr>
            </a:pPr>
            <a:r>
              <a:t>4</a:t>
            </a:r>
          </a:p>
        </p:txBody>
      </p:sp>
      <p:sp>
        <p:nvSpPr>
          <p:cNvPr id="27" name="Rounded Rectangle 26"/>
          <p:cNvSpPr/>
          <p:nvPr/>
        </p:nvSpPr>
        <p:spPr>
          <a:xfrm>
            <a:off x="7178040" y="3429000"/>
            <a:ext cx="2194560" cy="246888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269480" y="3566160"/>
            <a:ext cx="2011680" cy="411480"/>
          </a:xfrm>
          <a:prstGeom prst="rect">
            <a:avLst/>
          </a:prstGeom>
          <a:noFill/>
        </p:spPr>
        <p:txBody>
          <a:bodyPr wrap="none">
            <a:spAutoFit/>
          </a:bodyPr>
          <a:lstStyle/>
          <a:p>
            <a:pPr algn="ctr">
              <a:defRPr sz="1700" b="1">
                <a:solidFill>
                  <a:srgbClr val="0B3D4A"/>
                </a:solidFill>
                <a:latin typeface="Arial"/>
              </a:defRPr>
            </a:pPr>
            <a:r>
              <a:t>Inference</a:t>
            </a:r>
          </a:p>
        </p:txBody>
      </p:sp>
      <p:sp>
        <p:nvSpPr>
          <p:cNvPr id="29" name="TextBox 28"/>
          <p:cNvSpPr txBox="1"/>
          <p:nvPr/>
        </p:nvSpPr>
        <p:spPr>
          <a:xfrm>
            <a:off x="7315200" y="4069080"/>
            <a:ext cx="1920240" cy="1645920"/>
          </a:xfrm>
          <a:prstGeom prst="rect">
            <a:avLst/>
          </a:prstGeom>
          <a:noFill/>
        </p:spPr>
        <p:txBody>
          <a:bodyPr wrap="square">
            <a:spAutoFit/>
          </a:bodyPr>
          <a:lstStyle/>
          <a:p>
            <a:pPr>
              <a:defRPr sz="1200">
                <a:solidFill>
                  <a:srgbClr val="12202B"/>
                </a:solidFill>
                <a:latin typeface="Arial"/>
              </a:defRPr>
            </a:pPr>
            <a:r>
              <a:t>PL-FC-Entails forward chaining fires Horn clause rules.</a:t>
            </a:r>
          </a:p>
        </p:txBody>
      </p:sp>
      <p:sp>
        <p:nvSpPr>
          <p:cNvPr id="30" name="Oval 29"/>
          <p:cNvSpPr/>
          <p:nvPr/>
        </p:nvSpPr>
        <p:spPr>
          <a:xfrm>
            <a:off x="9555480" y="2240280"/>
            <a:ext cx="822960" cy="822960"/>
          </a:xfrm>
          <a:prstGeom prst="ellipse">
            <a:avLst/>
          </a:prstGeom>
          <a:solidFill>
            <a:srgbClr val="0E8F86"/>
          </a:solidFill>
          <a:ln w="25400">
            <a:solidFill>
              <a:srgbClr val="0B3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555480" y="2240280"/>
            <a:ext cx="822960" cy="822960"/>
          </a:xfrm>
          <a:prstGeom prst="rect">
            <a:avLst/>
          </a:prstGeom>
          <a:noFill/>
        </p:spPr>
        <p:txBody>
          <a:bodyPr wrap="none">
            <a:spAutoFit/>
          </a:bodyPr>
          <a:lstStyle/>
          <a:p>
            <a:pPr algn="ctr">
              <a:defRPr sz="2600" b="1">
                <a:solidFill>
                  <a:srgbClr val="FFFFFF"/>
                </a:solidFill>
                <a:latin typeface="Arial"/>
              </a:defRPr>
            </a:pPr>
            <a:r>
              <a:t>5</a:t>
            </a:r>
          </a:p>
        </p:txBody>
      </p:sp>
      <p:sp>
        <p:nvSpPr>
          <p:cNvPr id="32" name="Rounded Rectangle 31"/>
          <p:cNvSpPr/>
          <p:nvPr/>
        </p:nvSpPr>
        <p:spPr>
          <a:xfrm>
            <a:off x="9418320" y="3429000"/>
            <a:ext cx="2194560" cy="246888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509760" y="3566160"/>
            <a:ext cx="2011680" cy="411480"/>
          </a:xfrm>
          <a:prstGeom prst="rect">
            <a:avLst/>
          </a:prstGeom>
          <a:noFill/>
        </p:spPr>
        <p:txBody>
          <a:bodyPr wrap="none">
            <a:spAutoFit/>
          </a:bodyPr>
          <a:lstStyle/>
          <a:p>
            <a:pPr algn="ctr">
              <a:defRPr sz="1700" b="1">
                <a:solidFill>
                  <a:srgbClr val="0B3D4A"/>
                </a:solidFill>
                <a:latin typeface="Arial"/>
              </a:defRPr>
            </a:pPr>
            <a:r>
              <a:t>Explain</a:t>
            </a:r>
          </a:p>
        </p:txBody>
      </p:sp>
      <p:sp>
        <p:nvSpPr>
          <p:cNvPr id="34" name="TextBox 33"/>
          <p:cNvSpPr txBox="1"/>
          <p:nvPr/>
        </p:nvSpPr>
        <p:spPr>
          <a:xfrm>
            <a:off x="9555480" y="4069080"/>
            <a:ext cx="1920240" cy="1645920"/>
          </a:xfrm>
          <a:prstGeom prst="rect">
            <a:avLst/>
          </a:prstGeom>
          <a:noFill/>
        </p:spPr>
        <p:txBody>
          <a:bodyPr wrap="square">
            <a:spAutoFit/>
          </a:bodyPr>
          <a:lstStyle/>
          <a:p>
            <a:pPr>
              <a:defRPr sz="1200">
                <a:solidFill>
                  <a:srgbClr val="12202B"/>
                </a:solidFill>
                <a:latin typeface="Arial"/>
              </a:defRPr>
            </a:pPr>
            <a:r>
              <a:t>Synthesizes proof tree DAG and categorical risk verdict.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EE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0972800" cy="292608"/>
          </a:xfrm>
          <a:prstGeom prst="rect">
            <a:avLst/>
          </a:prstGeom>
          <a:noFill/>
        </p:spPr>
        <p:txBody>
          <a:bodyPr wrap="square" lIns="0" tIns="0" rIns="0" bIns="0">
            <a:spAutoFit/>
          </a:bodyPr>
          <a:lstStyle/>
          <a:p>
            <a:pPr>
              <a:defRPr sz="1200" b="1">
                <a:solidFill>
                  <a:srgbClr val="0E8F86"/>
                </a:solidFill>
                <a:latin typeface="Courier New"/>
              </a:defRPr>
            </a:pPr>
            <a:r>
              <a:t>06 · HEURISTIC SEARCH</a:t>
            </a:r>
          </a:p>
        </p:txBody>
      </p:sp>
      <p:sp>
        <p:nvSpPr>
          <p:cNvPr id="4" name="TextBox 3"/>
          <p:cNvSpPr txBox="1"/>
          <p:nvPr/>
        </p:nvSpPr>
        <p:spPr>
          <a:xfrm>
            <a:off x="548640" y="694944"/>
            <a:ext cx="11091672" cy="1051560"/>
          </a:xfrm>
          <a:prstGeom prst="rect">
            <a:avLst/>
          </a:prstGeom>
          <a:noFill/>
        </p:spPr>
        <p:txBody>
          <a:bodyPr wrap="square" lIns="0" tIns="0" rIns="0" bIns="0">
            <a:spAutoFit/>
          </a:bodyPr>
          <a:lstStyle/>
          <a:p>
            <a:pPr>
              <a:defRPr sz="2500" b="1">
                <a:solidFill>
                  <a:srgbClr val="0B3D4A"/>
                </a:solidFill>
                <a:latin typeface="Arial"/>
              </a:defRPr>
            </a:pPr>
            <a:r>
              <a:t>DETECTING BRAND TYPOSQUATTING VIA OPTIMAL STRING PATHFINDING</a:t>
            </a:r>
          </a:p>
        </p:txBody>
      </p:sp>
      <p:sp>
        <p:nvSpPr>
          <p:cNvPr id="5" name="TextBox 4"/>
          <p:cNvSpPr txBox="1"/>
          <p:nvPr/>
        </p:nvSpPr>
        <p:spPr>
          <a:xfrm>
            <a:off x="11155680" y="6400800"/>
            <a:ext cx="548640" cy="274320"/>
          </a:xfrm>
          <a:prstGeom prst="rect">
            <a:avLst/>
          </a:prstGeom>
          <a:noFill/>
        </p:spPr>
        <p:txBody>
          <a:bodyPr wrap="none">
            <a:spAutoFit/>
          </a:bodyPr>
          <a:lstStyle/>
          <a:p>
            <a:pPr>
              <a:defRPr sz="1100">
                <a:solidFill>
                  <a:srgbClr val="2C6E91"/>
                </a:solidFill>
                <a:latin typeface="Arial"/>
              </a:defRPr>
            </a:pPr>
            <a:r>
              <a:t>7</a:t>
            </a:r>
          </a:p>
        </p:txBody>
      </p:sp>
      <p:pic>
        <p:nvPicPr>
          <p:cNvPr id="6" name="Picture 5" descr="astar_diagram.png"/>
          <p:cNvPicPr>
            <a:picLocks noChangeAspect="1"/>
          </p:cNvPicPr>
          <p:nvPr/>
        </p:nvPicPr>
        <p:blipFill>
          <a:blip r:embed="rId3"/>
          <a:stretch>
            <a:fillRect/>
          </a:stretch>
        </p:blipFill>
        <p:spPr>
          <a:xfrm>
            <a:off x="548640" y="1920240"/>
            <a:ext cx="11091672" cy="42976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EE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0972800" cy="292608"/>
          </a:xfrm>
          <a:prstGeom prst="rect">
            <a:avLst/>
          </a:prstGeom>
          <a:noFill/>
        </p:spPr>
        <p:txBody>
          <a:bodyPr wrap="square" lIns="0" tIns="0" rIns="0" bIns="0">
            <a:spAutoFit/>
          </a:bodyPr>
          <a:lstStyle/>
          <a:p>
            <a:pPr>
              <a:defRPr sz="1200" b="1">
                <a:solidFill>
                  <a:srgbClr val="0E8F86"/>
                </a:solidFill>
                <a:latin typeface="Courier New"/>
              </a:defRPr>
            </a:pPr>
            <a:r>
              <a:t>07 · LOGIC &amp; EXPLAINABILITY</a:t>
            </a:r>
          </a:p>
        </p:txBody>
      </p:sp>
      <p:sp>
        <p:nvSpPr>
          <p:cNvPr id="4" name="TextBox 3"/>
          <p:cNvSpPr txBox="1"/>
          <p:nvPr/>
        </p:nvSpPr>
        <p:spPr>
          <a:xfrm>
            <a:off x="548640" y="694944"/>
            <a:ext cx="11091672" cy="1051560"/>
          </a:xfrm>
          <a:prstGeom prst="rect">
            <a:avLst/>
          </a:prstGeom>
          <a:noFill/>
        </p:spPr>
        <p:txBody>
          <a:bodyPr wrap="square" lIns="0" tIns="0" rIns="0" bIns="0">
            <a:spAutoFit/>
          </a:bodyPr>
          <a:lstStyle/>
          <a:p>
            <a:pPr>
              <a:defRPr sz="2500" b="1">
                <a:solidFill>
                  <a:srgbClr val="0B3D4A"/>
                </a:solidFill>
                <a:latin typeface="Arial"/>
              </a:defRPr>
            </a:pPr>
            <a:r>
              <a:t>FROM OBSERVABLE FACTS TO PROVEN VERDICTS VIA FORWARD CHAINING</a:t>
            </a:r>
          </a:p>
        </p:txBody>
      </p:sp>
      <p:sp>
        <p:nvSpPr>
          <p:cNvPr id="5" name="TextBox 4"/>
          <p:cNvSpPr txBox="1"/>
          <p:nvPr/>
        </p:nvSpPr>
        <p:spPr>
          <a:xfrm>
            <a:off x="11155680" y="6400800"/>
            <a:ext cx="548640" cy="274320"/>
          </a:xfrm>
          <a:prstGeom prst="rect">
            <a:avLst/>
          </a:prstGeom>
          <a:noFill/>
        </p:spPr>
        <p:txBody>
          <a:bodyPr wrap="none">
            <a:spAutoFit/>
          </a:bodyPr>
          <a:lstStyle/>
          <a:p>
            <a:pPr>
              <a:defRPr sz="1100">
                <a:solidFill>
                  <a:srgbClr val="2C6E91"/>
                </a:solidFill>
                <a:latin typeface="Arial"/>
              </a:defRPr>
            </a:pPr>
            <a:r>
              <a:t>8</a:t>
            </a:r>
          </a:p>
        </p:txBody>
      </p:sp>
      <p:pic>
        <p:nvPicPr>
          <p:cNvPr id="6" name="Picture 5" descr="prooftree_diagram.png"/>
          <p:cNvPicPr>
            <a:picLocks noChangeAspect="1"/>
          </p:cNvPicPr>
          <p:nvPr/>
        </p:nvPicPr>
        <p:blipFill>
          <a:blip r:embed="rId3"/>
          <a:stretch>
            <a:fillRect/>
          </a:stretch>
        </p:blipFill>
        <p:spPr>
          <a:xfrm>
            <a:off x="548640" y="1920240"/>
            <a:ext cx="11091672" cy="42976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EE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0972800" cy="292608"/>
          </a:xfrm>
          <a:prstGeom prst="rect">
            <a:avLst/>
          </a:prstGeom>
          <a:noFill/>
        </p:spPr>
        <p:txBody>
          <a:bodyPr wrap="none">
            <a:spAutoFit/>
          </a:bodyPr>
          <a:lstStyle/>
          <a:p>
            <a:pPr>
              <a:defRPr sz="1200" b="1">
                <a:solidFill>
                  <a:srgbClr val="0E8F86"/>
                </a:solidFill>
                <a:latin typeface="Courier New"/>
              </a:defRPr>
            </a:pPr>
            <a:r>
              <a:t>CONCLUSION</a:t>
            </a:r>
          </a:p>
        </p:txBody>
      </p:sp>
      <p:sp>
        <p:nvSpPr>
          <p:cNvPr id="4" name="TextBox 3"/>
          <p:cNvSpPr txBox="1"/>
          <p:nvPr/>
        </p:nvSpPr>
        <p:spPr>
          <a:xfrm>
            <a:off x="548640" y="694944"/>
            <a:ext cx="11091672" cy="1051560"/>
          </a:xfrm>
          <a:prstGeom prst="rect">
            <a:avLst/>
          </a:prstGeom>
          <a:noFill/>
        </p:spPr>
        <p:txBody>
          <a:bodyPr wrap="square">
            <a:spAutoFit/>
          </a:bodyPr>
          <a:lstStyle/>
          <a:p>
            <a:pPr>
              <a:defRPr sz="2500" b="1">
                <a:solidFill>
                  <a:srgbClr val="0B3D4A"/>
                </a:solidFill>
                <a:latin typeface="Arial"/>
              </a:defRPr>
            </a:pPr>
            <a:r>
              <a:t>DETERMINISTIC, PRIVACY-FIRST LINK SCREENING WITH PROVABLE EXPLANATIONS</a:t>
            </a:r>
          </a:p>
        </p:txBody>
      </p:sp>
      <p:sp>
        <p:nvSpPr>
          <p:cNvPr id="5" name="TextBox 4"/>
          <p:cNvSpPr txBox="1"/>
          <p:nvPr/>
        </p:nvSpPr>
        <p:spPr>
          <a:xfrm>
            <a:off x="11155680" y="6400800"/>
            <a:ext cx="548640" cy="274320"/>
          </a:xfrm>
          <a:prstGeom prst="rect">
            <a:avLst/>
          </a:prstGeom>
          <a:noFill/>
        </p:spPr>
        <p:txBody>
          <a:bodyPr wrap="none">
            <a:spAutoFit/>
          </a:bodyPr>
          <a:lstStyle/>
          <a:p>
            <a:pPr>
              <a:defRPr sz="1100">
                <a:solidFill>
                  <a:srgbClr val="2C6E91"/>
                </a:solidFill>
                <a:latin typeface="Arial"/>
              </a:defRPr>
            </a:pPr>
            <a:r>
              <a:t>9</a:t>
            </a:r>
          </a:p>
        </p:txBody>
      </p:sp>
      <p:sp>
        <p:nvSpPr>
          <p:cNvPr id="6" name="Rounded Rectangle 5"/>
          <p:cNvSpPr/>
          <p:nvPr/>
        </p:nvSpPr>
        <p:spPr>
          <a:xfrm>
            <a:off x="548640" y="1965960"/>
            <a:ext cx="3474720" cy="329184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hield.png"/>
          <p:cNvPicPr>
            <a:picLocks noChangeAspect="1"/>
          </p:cNvPicPr>
          <p:nvPr/>
        </p:nvPicPr>
        <p:blipFill>
          <a:blip r:embed="rId3"/>
          <a:stretch>
            <a:fillRect/>
          </a:stretch>
        </p:blipFill>
        <p:spPr>
          <a:xfrm>
            <a:off x="822960" y="2148840"/>
            <a:ext cx="640080" cy="640080"/>
          </a:xfrm>
          <a:prstGeom prst="rect">
            <a:avLst/>
          </a:prstGeom>
        </p:spPr>
      </p:pic>
      <p:sp>
        <p:nvSpPr>
          <p:cNvPr id="8" name="TextBox 7"/>
          <p:cNvSpPr txBox="1"/>
          <p:nvPr/>
        </p:nvSpPr>
        <p:spPr>
          <a:xfrm>
            <a:off x="822960" y="2926080"/>
            <a:ext cx="2926080" cy="2194560"/>
          </a:xfrm>
          <a:prstGeom prst="rect">
            <a:avLst/>
          </a:prstGeom>
          <a:noFill/>
        </p:spPr>
        <p:txBody>
          <a:bodyPr wrap="square">
            <a:spAutoFit/>
          </a:bodyPr>
          <a:lstStyle/>
          <a:p>
            <a:pPr>
              <a:defRPr sz="1800" b="1">
                <a:solidFill>
                  <a:srgbClr val="0B3D4A"/>
                </a:solidFill>
                <a:latin typeface="Arial"/>
              </a:defRPr>
            </a:pPr>
            <a:r>
              <a:t>100% Air-Gapped</a:t>
            </a:r>
          </a:p>
          <a:p>
            <a:pPr>
              <a:defRPr sz="1250">
                <a:solidFill>
                  <a:srgbClr val="12202B"/>
                </a:solidFill>
                <a:latin typeface="Arial"/>
              </a:defRPr>
            </a:pPr>
            <a:r>
              <a:t>Zero remote queries, zero DNS resolutions, and zero telemetry. Protects confidential internal links and operates seamlessly in air-gapped security perimeters.</a:t>
            </a:r>
          </a:p>
        </p:txBody>
      </p:sp>
      <p:sp>
        <p:nvSpPr>
          <p:cNvPr id="9" name="Rounded Rectangle 8"/>
          <p:cNvSpPr/>
          <p:nvPr/>
        </p:nvSpPr>
        <p:spPr>
          <a:xfrm>
            <a:off x="4343400" y="1965960"/>
            <a:ext cx="3474720" cy="329184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prooftree.png"/>
          <p:cNvPicPr>
            <a:picLocks noChangeAspect="1"/>
          </p:cNvPicPr>
          <p:nvPr/>
        </p:nvPicPr>
        <p:blipFill>
          <a:blip r:embed="rId4"/>
          <a:stretch>
            <a:fillRect/>
          </a:stretch>
        </p:blipFill>
        <p:spPr>
          <a:xfrm>
            <a:off x="4617720" y="2148840"/>
            <a:ext cx="640080" cy="640080"/>
          </a:xfrm>
          <a:prstGeom prst="rect">
            <a:avLst/>
          </a:prstGeom>
        </p:spPr>
      </p:pic>
      <p:sp>
        <p:nvSpPr>
          <p:cNvPr id="11" name="TextBox 10"/>
          <p:cNvSpPr txBox="1"/>
          <p:nvPr/>
        </p:nvSpPr>
        <p:spPr>
          <a:xfrm>
            <a:off x="4617720" y="2926080"/>
            <a:ext cx="2926080" cy="2194560"/>
          </a:xfrm>
          <a:prstGeom prst="rect">
            <a:avLst/>
          </a:prstGeom>
          <a:noFill/>
        </p:spPr>
        <p:txBody>
          <a:bodyPr wrap="square">
            <a:spAutoFit/>
          </a:bodyPr>
          <a:lstStyle/>
          <a:p>
            <a:pPr>
              <a:defRPr sz="1800" b="1">
                <a:solidFill>
                  <a:srgbClr val="0B3D4A"/>
                </a:solidFill>
                <a:latin typeface="Arial"/>
              </a:defRPr>
            </a:pPr>
            <a:r>
              <a:t>True Explainable AI</a:t>
            </a:r>
          </a:p>
          <a:p>
            <a:pPr>
              <a:defRPr sz="1250">
                <a:solidFill>
                  <a:srgbClr val="12202B"/>
                </a:solidFill>
                <a:latin typeface="Arial"/>
              </a:defRPr>
            </a:pPr>
            <a:r>
              <a:t>Replaces opaque, black-box confidence scores with mathematical proof-tree DAGs. Every categorical risk verdict is transparently justified to security analysts.</a:t>
            </a:r>
          </a:p>
        </p:txBody>
      </p:sp>
      <p:sp>
        <p:nvSpPr>
          <p:cNvPr id="12" name="Rounded Rectangle 11"/>
          <p:cNvSpPr/>
          <p:nvPr/>
        </p:nvSpPr>
        <p:spPr>
          <a:xfrm>
            <a:off x="8138160" y="1965960"/>
            <a:ext cx="3474720" cy="329184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check.png"/>
          <p:cNvPicPr>
            <a:picLocks noChangeAspect="1"/>
          </p:cNvPicPr>
          <p:nvPr/>
        </p:nvPicPr>
        <p:blipFill>
          <a:blip r:embed="rId5"/>
          <a:stretch>
            <a:fillRect/>
          </a:stretch>
        </p:blipFill>
        <p:spPr>
          <a:xfrm>
            <a:off x="8412480" y="2148840"/>
            <a:ext cx="640080" cy="640080"/>
          </a:xfrm>
          <a:prstGeom prst="rect">
            <a:avLst/>
          </a:prstGeom>
        </p:spPr>
      </p:pic>
      <p:sp>
        <p:nvSpPr>
          <p:cNvPr id="14" name="TextBox 13"/>
          <p:cNvSpPr txBox="1"/>
          <p:nvPr/>
        </p:nvSpPr>
        <p:spPr>
          <a:xfrm>
            <a:off x="8412480" y="2926080"/>
            <a:ext cx="2926080" cy="2194560"/>
          </a:xfrm>
          <a:prstGeom prst="rect">
            <a:avLst/>
          </a:prstGeom>
          <a:noFill/>
        </p:spPr>
        <p:txBody>
          <a:bodyPr wrap="square">
            <a:spAutoFit/>
          </a:bodyPr>
          <a:lstStyle/>
          <a:p>
            <a:pPr>
              <a:defRPr sz="1800" b="1">
                <a:solidFill>
                  <a:srgbClr val="0B3D4A"/>
                </a:solidFill>
                <a:latin typeface="Arial"/>
              </a:defRPr>
            </a:pPr>
            <a:r>
              <a:t>Provably Optimal</a:t>
            </a:r>
          </a:p>
          <a:p>
            <a:pPr>
              <a:defRPr sz="1250">
                <a:solidFill>
                  <a:srgbClr val="12202B"/>
                </a:solidFill>
                <a:latin typeface="Arial"/>
              </a:defRPr>
            </a:pPr>
            <a:r>
              <a:t>A* search guarantees minimum string edits with admissible heuristics; PL-FC-Entails executes in linear time without risk of infinite loops or hallucination.</a:t>
            </a:r>
          </a:p>
        </p:txBody>
      </p:sp>
      <p:sp>
        <p:nvSpPr>
          <p:cNvPr id="15" name="Rounded Rectangle 14"/>
          <p:cNvSpPr/>
          <p:nvPr/>
        </p:nvSpPr>
        <p:spPr>
          <a:xfrm>
            <a:off x="548640" y="5440680"/>
            <a:ext cx="11091672" cy="868680"/>
          </a:xfrm>
          <a:prstGeom prst="roundRect">
            <a:avLst/>
          </a:prstGeom>
          <a:solidFill>
            <a:srgbClr val="FFFFFF"/>
          </a:solidFill>
          <a:ln w="12700">
            <a:solidFill>
              <a:srgbClr val="0E8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5532120"/>
            <a:ext cx="5486400" cy="685800"/>
          </a:xfrm>
          <a:prstGeom prst="rect">
            <a:avLst/>
          </a:prstGeom>
          <a:noFill/>
        </p:spPr>
        <p:txBody>
          <a:bodyPr wrap="none">
            <a:spAutoFit/>
          </a:bodyPr>
          <a:lstStyle/>
          <a:p>
            <a:pPr>
              <a:defRPr sz="2000" b="1">
                <a:solidFill>
                  <a:srgbClr val="0E8F86"/>
                </a:solidFill>
                <a:latin typeface="Arial"/>
              </a:defRPr>
            </a:pPr>
            <a:r>
              <a:t>Thank you — Questions &amp; Answers</a:t>
            </a:r>
          </a:p>
        </p:txBody>
      </p:sp>
      <p:sp>
        <p:nvSpPr>
          <p:cNvPr id="17" name="TextBox 16"/>
          <p:cNvSpPr txBox="1"/>
          <p:nvPr/>
        </p:nvSpPr>
        <p:spPr>
          <a:xfrm>
            <a:off x="6400800" y="5596128"/>
            <a:ext cx="5029200" cy="594360"/>
          </a:xfrm>
          <a:prstGeom prst="rect">
            <a:avLst/>
          </a:prstGeom>
          <a:noFill/>
        </p:spPr>
        <p:txBody>
          <a:bodyPr wrap="none">
            <a:spAutoFit/>
          </a:bodyPr>
          <a:lstStyle/>
          <a:p>
            <a:pPr algn="r">
              <a:defRPr sz="1300">
                <a:solidFill>
                  <a:srgbClr val="0B3D4A"/>
                </a:solidFill>
                <a:latin typeface="Arial"/>
              </a:defRPr>
            </a:pPr>
            <a:r>
              <a:t>Thirumala Sri (240701569)</a:t>
            </a:r>
            <a:br/>
            <a:r>
              <a:t>Rajalakshmi Engineering College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1402</Words>
  <Application>Microsoft Office PowerPoint</Application>
  <PresentationFormat>Widescreen</PresentationFormat>
  <Paragraphs>108</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Vineeth P</cp:lastModifiedBy>
  <cp:revision>2</cp:revision>
  <dcterms:created xsi:type="dcterms:W3CDTF">2013-01-27T09:14:16Z</dcterms:created>
  <dcterms:modified xsi:type="dcterms:W3CDTF">2026-10-16T04:10:57Z</dcterms:modified>
  <cp:category/>
</cp:coreProperties>
</file>